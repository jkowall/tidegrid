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5ddd2393804d89" /><Relationship Type="http://schemas.openxmlformats.org/officeDocument/2006/relationships/extended-properties" Target="/docProps/app.xml" Id="Rb5677d81466c4e05" /><Relationship Type="http://schemas.openxmlformats.org/officeDocument/2006/relationships/officeDocument" Target="/ppt/presentation.xml" Id="R467c5df5211544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9737af05594774"/>
  </p:sldMasterIdLst>
  <p:notesMasterIdLst>
    <p:notesMasterId xmlns:r="http://schemas.openxmlformats.org/officeDocument/2006/relationships" r:id="Ra5b1297b16704b81"/>
  </p:notesMasterIdLst>
  <p:sldIdLst>
    <p:sldId xmlns:r="http://schemas.openxmlformats.org/officeDocument/2006/relationships" id="256" r:id="R703bdf72d3634a86"/>
    <p:sldId xmlns:r="http://schemas.openxmlformats.org/officeDocument/2006/relationships" id="257" r:id="R300c92682cad46ba"/>
    <p:sldId xmlns:r="http://schemas.openxmlformats.org/officeDocument/2006/relationships" id="258" r:id="R44c925eef12d4e19"/>
    <p:sldId xmlns:r="http://schemas.openxmlformats.org/officeDocument/2006/relationships" id="259" r:id="R4f811b1de70c4f26"/>
    <p:sldId xmlns:r="http://schemas.openxmlformats.org/officeDocument/2006/relationships" id="260" r:id="Rb7c52f048b22407e"/>
    <p:sldId xmlns:r="http://schemas.openxmlformats.org/officeDocument/2006/relationships" id="261" r:id="R1726ee53ea214105"/>
    <p:sldId xmlns:r="http://schemas.openxmlformats.org/officeDocument/2006/relationships" id="262" r:id="R2125bd38c0ba4f95"/>
    <p:sldId xmlns:r="http://schemas.openxmlformats.org/officeDocument/2006/relationships" id="263" r:id="Rc514a381b65f40b4"/>
    <p:sldId xmlns:r="http://schemas.openxmlformats.org/officeDocument/2006/relationships" id="264" r:id="R710ec0d748ee48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c94fe9aa5d46b9" /><Relationship Type="http://schemas.openxmlformats.org/officeDocument/2006/relationships/slideMaster" Target="/ppt/slideMasters/slideMaster1.xml" Id="R839737af05594774" /><Relationship Type="http://schemas.openxmlformats.org/officeDocument/2006/relationships/notesMaster" Target="/ppt/notesMasters/notesMaster1.xml" Id="Ra5b1297b16704b81" /><Relationship Type="http://schemas.openxmlformats.org/officeDocument/2006/relationships/presProps" Target="/ppt/presProps.xml" Id="R557980f3261a40fb" /><Relationship Type="http://schemas.openxmlformats.org/officeDocument/2006/relationships/tableStyles" Target="/ppt/tableStyles.xml" Id="Rb6ed73d627c04bb4" /><Relationship Type="http://schemas.openxmlformats.org/officeDocument/2006/relationships/slide" Target="/ppt/slides/slide1.xml" Id="R703bdf72d3634a86" /><Relationship Type="http://schemas.openxmlformats.org/officeDocument/2006/relationships/slide" Target="/ppt/slides/slide2.xml" Id="R300c92682cad46ba" /><Relationship Type="http://schemas.openxmlformats.org/officeDocument/2006/relationships/slide" Target="/ppt/slides/slide3.xml" Id="R44c925eef12d4e19" /><Relationship Type="http://schemas.openxmlformats.org/officeDocument/2006/relationships/slide" Target="/ppt/slides/slide4.xml" Id="R4f811b1de70c4f26" /><Relationship Type="http://schemas.openxmlformats.org/officeDocument/2006/relationships/slide" Target="/ppt/slides/slide5.xml" Id="Rb7c52f048b22407e" /><Relationship Type="http://schemas.openxmlformats.org/officeDocument/2006/relationships/slide" Target="/ppt/slides/slide6.xml" Id="R1726ee53ea214105" /><Relationship Type="http://schemas.openxmlformats.org/officeDocument/2006/relationships/slide" Target="/ppt/slides/slide7.xml" Id="R2125bd38c0ba4f95" /><Relationship Type="http://schemas.openxmlformats.org/officeDocument/2006/relationships/slide" Target="/ppt/slides/slide8.xml" Id="Rc514a381b65f40b4" /><Relationship Type="http://schemas.openxmlformats.org/officeDocument/2006/relationships/slide" Target="/ppt/slides/slide9.xml" Id="R710ec0d748ee48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63a39e26fa44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b52c8fe1940ce" /><Relationship Type="http://schemas.openxmlformats.org/officeDocument/2006/relationships/notesMaster" Target="/ppt/notesMasters/notesMaster1.xml" Id="R1a9966c9276e42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258fb644ff4507" /><Relationship Type="http://schemas.openxmlformats.org/officeDocument/2006/relationships/notesMaster" Target="/ppt/notesMasters/notesMaster1.xml" Id="R89d0fb98d40b4e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0a75da33ab4d95" /><Relationship Type="http://schemas.openxmlformats.org/officeDocument/2006/relationships/notesMaster" Target="/ppt/notesMasters/notesMaster1.xml" Id="R87f7e4430e164f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e6bfece9624946" /><Relationship Type="http://schemas.openxmlformats.org/officeDocument/2006/relationships/notesMaster" Target="/ppt/notesMasters/notesMaster1.xml" Id="R1f925d41d29a45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060e001adf4f4f" /><Relationship Type="http://schemas.openxmlformats.org/officeDocument/2006/relationships/notesMaster" Target="/ppt/notesMasters/notesMaster1.xml" Id="Ra388242a977e49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baa170480c456e" /><Relationship Type="http://schemas.openxmlformats.org/officeDocument/2006/relationships/notesMaster" Target="/ppt/notesMasters/notesMaster1.xml" Id="R2d7ee7d6870b45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866e8228444764" /><Relationship Type="http://schemas.openxmlformats.org/officeDocument/2006/relationships/notesMaster" Target="/ppt/notesMasters/notesMaster1.xml" Id="R048b690170794b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6068db08cc4359" /><Relationship Type="http://schemas.openxmlformats.org/officeDocument/2006/relationships/notesMaster" Target="/ppt/notesMasters/notesMaster1.xml" Id="R4979bfad0dae4f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ace19f621446f7" /><Relationship Type="http://schemas.openxmlformats.org/officeDocument/2006/relationships/notesMaster" Target="/ppt/notesMasters/notesMaster1.xml" Id="R3d4d613598be4d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plain-language product promise. Make clear that this is a proposed product, not a finished system or active offer.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TideGrid internal validation brief, September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feature overview. Ask which column contains the most valuable work and which capability is unnecessary.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TideGrid internal validation brief, September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native app is not required for booking. It is a branded repeat-customer channel that uses the same underlying system as web booking.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TideGrid internal validation brief, September 2026</a:t>
            </a:r>
          </a:p>
          <a:p xmlns:a="http://schemas.openxmlformats.org/drawingml/2006/main">
            <a:r>
              <a:t>- https://developer.apple.com/app-store/review/guidelines/</a:t>
            </a:r>
          </a:p>
          <a:p xmlns:a="http://schemas.openxmlformats.org/drawingml/2006/main">
            <a:r>
              <a:t>- https://support.google.com/googleplay/android-developer/answer/13628312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guest experience is designed to work without forcing account creation for the first booking.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TideGrid internal validation brief, September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each box into the staff member's daily work. Ask what they need to know at a glance before departure.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TideGrid internal validation brief, September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hypothetical example to make the connected-record value tangible. Stress that an authorized person always decides whether the trip runs and which remedy applies.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TideGrid internal validation brief, September 2026</a:t>
            </a:r>
          </a:p>
          <a:p xmlns:a="http://schemas.openxmlformats.org/drawingml/2006/main">
            <a:r>
              <a:t>- https://www.weather.gov/documentation/services-web-api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 that direct payments into the operator's own Stripe account and human control of policies and trip decisions address the operator's concerns.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TideGrid internal validation brief, September 2026</a:t>
            </a:r>
          </a:p>
          <a:p xmlns:a="http://schemas.openxmlformats.org/drawingml/2006/main">
            <a:r>
              <a:t>- https://docs.stripe.com/connect/direct-charges</a:t>
            </a:r>
          </a:p>
          <a:p xmlns:a="http://schemas.openxmlformats.org/drawingml/2006/main">
            <a:r>
              <a:t>- https://developer.apple.com/app-store/review/guidelines/</a:t>
            </a:r>
          </a:p>
          <a:p xmlns:a="http://schemas.openxmlformats.org/drawingml/2006/main">
            <a:r>
              <a:t>- https://support.google.com/googleplay/android-developer/answer/13628312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each pricing component separately: software, optional setup help, and optional native app. No deposit or commitment is being requested during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TideGrid internal validation brief, September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concrete request for a 45-minute validation conversation. Ask for criticism, not encouragement or a purchase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TideGrid internal validation brief, September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5d267742244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04adba39684c04" /><Relationship Type="http://schemas.openxmlformats.org/officeDocument/2006/relationships/slideLayout" Target="/ppt/slideLayouts/slideLayout1.xml" Id="R5a9f6056852e4e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9f6056852e4e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a47739035493c" /><Relationship Type="http://schemas.openxmlformats.org/officeDocument/2006/relationships/notesSlide" Target="/ppt/notesSlides/notesSlide1.xml" Id="Re4f0822e409f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25300f92a4944" /><Relationship Type="http://schemas.openxmlformats.org/officeDocument/2006/relationships/notesSlide" Target="/ppt/notesSlides/notesSlide2.xml" Id="R89a0d53dbb0b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e89ea22b74344" /><Relationship Type="http://schemas.openxmlformats.org/officeDocument/2006/relationships/notesSlide" Target="/ppt/notesSlides/notesSlide3.xml" Id="R926dc0b06bf948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894eba7eb4857" /><Relationship Type="http://schemas.openxmlformats.org/officeDocument/2006/relationships/notesSlide" Target="/ppt/notesSlides/notesSlide4.xml" Id="Rd0ac5147d46d42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fdcb99dc34b0c" /><Relationship Type="http://schemas.openxmlformats.org/officeDocument/2006/relationships/notesSlide" Target="/ppt/notesSlides/notesSlide5.xml" Id="Rae6e027204ae40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d123145414561" /><Relationship Type="http://schemas.openxmlformats.org/officeDocument/2006/relationships/notesSlide" Target="/ppt/notesSlides/notesSlide6.xml" Id="Ref8dda6feb8f48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729e94acc4233" /><Relationship Type="http://schemas.openxmlformats.org/officeDocument/2006/relationships/notesSlide" Target="/ppt/notesSlides/notesSlide7.xml" Id="R22762bdd360f4f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3a1e75f154ede" /><Relationship Type="http://schemas.openxmlformats.org/officeDocument/2006/relationships/notesSlide" Target="/ppt/notesSlides/notesSlide8.xml" Id="Rba3f950bb5ec4b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cac87b408485b" /><Relationship Type="http://schemas.openxmlformats.org/officeDocument/2006/relationships/notesSlide" Target="/ppt/notesSlides/notesSlide9.xml" Id="R78bc738c1be944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61037-253C-48D0-9C08-AFAC0B38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29A15-9679-4284-9D50-CFFF2D3F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TIDEGRID  •  CUSTOMER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DC24F-20D1-48B1-BE26-E8E79041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057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A booking system under your brand,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with an optional customer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81D67-4FC3-4FFE-9240-84B5905C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10075"/>
            <a:ext cx="847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D6670"/>
                </a:solidFill>
                <a:latin typeface="Arial"/>
                <a:ea typeface="Arial"/>
                <a:cs typeface="Arial"/>
              </a:rPr>
              <a:t>For boat-tour, dive, fishing, and charter businesses: bookings, payments, waivers, texts, rental gear, and trip changes in one place.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EDDC7-57C2-44F3-B1FF-72BC4D2F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57700"/>
            <a:ext cx="22288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0E9ED-D22B-46FB-AA1F-6619B46B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38675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PLAIN-LANGUAGE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3B994-9E62-4A2C-84AC-476E9175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670"/>
                </a:solidFill>
                <a:latin typeface="Arial"/>
                <a:ea typeface="Arial"/>
                <a:cs typeface="Arial"/>
              </a:rPr>
              <a:t>The product, prices, and timing are still being tested.</a:t>
            </a:r>
          </a:p>
        </p:txBody>
      </p:sp>
    </p:spTree>
    <p:extLst>
      <p:ext uri="{BB962C8B-B14F-4D97-AF65-F5344CB8AC3E}">
        <p14:creationId xmlns:p14="http://schemas.microsoft.com/office/powerpoint/2010/main" val="11506318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39ABE9C1-56E7-47C4-A381-31BEAD6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IT WOULD DO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7B82C3A-BE7A-4879-9817-446AA203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Bookings, payments, waivers, messages, and gear in one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A46C7-3563-4CD1-959B-8BA3D155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E80A5-6193-45AA-A517-20CABF3A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811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D6670"/>
                </a:solidFill>
                <a:latin typeface="Arial"/>
                <a:ea typeface="Arial"/>
                <a:cs typeface="Arial"/>
              </a:rPr>
              <a:t>Customers could book and prepare. Staff could see what is paid, signed, reserved, or needs attention.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89922-BB77-40BF-8D26-A6B6A6C1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8BA01-B3CD-4E99-94B5-5FF45C42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SELL THE TRIP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9694F-788F-483A-A15A-091C21D3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Show trips and take bookings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F1732-17FC-4F95-B02B-490A739F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31051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Shared trips or private charters</a:t>
            </a:r>
          </a:p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Online, phone, or walk-up</a:t>
            </a:r>
          </a:p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Schedules, boats, seats, and cutoffs</a:t>
            </a:r>
          </a:p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Add-ons, fees, taxes, and promo codes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30302-1C21-49BC-BF20-2F39E071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2890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13FD9-3E2A-491B-A181-E7257FD4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194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GET PAID + 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1487B-E7CB-400D-9065-F4D01C4F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432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Collect money and paperwork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5EEE4-083D-4F9E-AD0A-EC87DA85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48100"/>
            <a:ext cx="31051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Full payment or a deposit and balance</a:t>
            </a:r>
          </a:p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Guest and participant details</a:t>
            </a:r>
          </a:p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Digital waivers, including guardians</a:t>
            </a:r>
          </a:p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Rental gear and size 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08554-7B10-447C-9F1B-0BBDC4A6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C1FCB-1920-4129-9C25-BCD1D1AD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194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STAY CONNECTED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A33DF-69F8-4F20-AB35-3B069570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Handle changes and repeat visits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C8EE2-96ED-4D6A-886E-52158844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8100"/>
            <a:ext cx="31051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Email and text confirmations</a:t>
            </a:r>
          </a:p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Arrival and weather updates</a:t>
            </a:r>
          </a:p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Guest cancellations or rescheduling</a:t>
            </a:r>
          </a:p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Refunds or service credits</a:t>
            </a:r>
          </a:p>
          <a:p xmlns:a="http://schemas.openxmlformats.org/drawingml/2006/main">
            <a:pPr algn="l">
              <a:buNone/>
              <a:defRPr sz="142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D6670"/>
                </a:solidFill>
                <a:latin typeface="Arial"/>
                <a:ea typeface="Arial"/>
                <a:cs typeface="Arial"/>
              </a:rPr>
              <a:t>Tip requests and trip packages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289AD-14A6-40A0-9234-A3A7AF87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Everything would stay tied to the same booking.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FE096-AE33-449C-8127-4D985A4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70"/>
                </a:solidFill>
                <a:latin typeface="Arial"/>
                <a:ea typeface="Arial"/>
                <a:cs typeface="Arial"/>
              </a:rPr>
              <a:t>CUSTOMER CONCEPT  •  SEPTEMBER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8DEC0-D2EE-400E-9C6F-574820C8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2842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3">
            <a:extLst xmlns:a="http://schemas.openxmlformats.org/drawingml/2006/main">
              <a:ext uri="{FF2B5EF4-FFF2-40B4-BE49-F238E27FC236}">
                <a16:creationId xmlns:a16="http://schemas.microsoft.com/office/drawing/2014/main" id="{E56EDBEF-DAA1-4418-8497-67E76EC0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YOUR BRAND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004115F-A777-467A-869E-49B4C041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Web booking is included. A native app is optional.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DC000-AC72-4C2E-B258-04924B9B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7C53E-929D-4D11-89D8-612EBC6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D6670"/>
                </a:solidFill>
                <a:latin typeface="Arial"/>
                <a:ea typeface="Arial"/>
                <a:cs typeface="Arial"/>
              </a:rPr>
              <a:t>Both would use the same trips, bookings, customer details, and payments. You would not manage two separate systems.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B7557-FBE9-4380-8AA1-6326155E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5429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49C4E-972C-4B32-AB40-1A9B916A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5429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E08C3-D15E-44EF-BCB1-596F8AE3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BRANDED WEB BOOKING  •  INCLUDED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D6906-E0E9-4534-90E3-51469954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Book from any 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D8686-8D85-4081-ABAF-086CFC4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38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670"/>
                </a:solidFill>
                <a:latin typeface="Arial"/>
                <a:ea typeface="Arial"/>
                <a:cs typeface="Arial"/>
              </a:rPr>
              <a:t>Customers tap Book on your website</a:t>
            </a:r>
          </a:p>
          <a:p xmlns:a="http://schemas.openxmlformats.org/drawingml/2006/main">
            <a:pPr algn="l">
              <a:buNone/>
              <a:defRPr sz="150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670"/>
                </a:solidFill>
                <a:latin typeface="Arial"/>
                <a:ea typeface="Arial"/>
                <a:cs typeface="Arial"/>
              </a:rPr>
              <a:t>No app download required</a:t>
            </a:r>
          </a:p>
          <a:p xmlns:a="http://schemas.openxmlformats.org/drawingml/2006/main">
            <a:pPr algn="l">
              <a:buNone/>
              <a:defRPr sz="150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670"/>
                </a:solidFill>
                <a:latin typeface="Arial"/>
                <a:ea typeface="Arial"/>
                <a:cs typeface="Arial"/>
              </a:rPr>
              <a:t>Uses your name, colors, trips, and boats</a:t>
            </a:r>
          </a:p>
          <a:p xmlns:a="http://schemas.openxmlformats.org/drawingml/2006/main">
            <a:pPr algn="l">
              <a:buNone/>
              <a:defRPr sz="150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670"/>
                </a:solidFill>
                <a:latin typeface="Arial"/>
                <a:ea typeface="Arial"/>
                <a:cs typeface="Arial"/>
              </a:rPr>
              <a:t>Book, pay, sign waivers, and manage the trip</a:t>
            </a:r>
          </a:p>
          <a:p xmlns:a="http://schemas.openxmlformats.org/drawingml/2006/main">
            <a:pPr algn="l">
              <a:buNone/>
              <a:defRPr sz="150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670"/>
                </a:solidFill>
                <a:latin typeface="Arial"/>
                <a:ea typeface="Arial"/>
                <a:cs typeface="Arial"/>
              </a:rPr>
              <a:t>Works for every customer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AD921-2F7A-41C1-B776-BEB94DE2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0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OPTIONAL CUSTOMER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86645-07F7-46BC-9520-78C5170E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8135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A customer app in the Apple and Google stores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33EAE-3AD7-499D-A552-F97CB5DC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81450"/>
            <a:ext cx="438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670"/>
                </a:solidFill>
                <a:latin typeface="Arial"/>
                <a:ea typeface="Arial"/>
                <a:cs typeface="Arial"/>
              </a:rPr>
              <a:t>Your branded customer app, powered by TideGrid</a:t>
            </a:r>
          </a:p>
          <a:p xmlns:a="http://schemas.openxmlformats.org/drawingml/2006/main">
            <a:pPr algn="l">
              <a:buNone/>
              <a:defRPr sz="150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670"/>
                </a:solidFill>
                <a:latin typeface="Arial"/>
                <a:ea typeface="Arial"/>
                <a:cs typeface="Arial"/>
              </a:rPr>
              <a:t>Your name, colors, and app icon</a:t>
            </a:r>
          </a:p>
          <a:p xmlns:a="http://schemas.openxmlformats.org/drawingml/2006/main">
            <a:pPr algn="l">
              <a:buNone/>
              <a:defRPr sz="150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670"/>
                </a:solidFill>
                <a:latin typeface="Arial"/>
                <a:ea typeface="Arial"/>
                <a:cs typeface="Arial"/>
              </a:rPr>
              <a:t>One app for your business, with all your boats</a:t>
            </a:r>
          </a:p>
          <a:p xmlns:a="http://schemas.openxmlformats.org/drawingml/2006/main">
            <a:pPr algn="l">
              <a:buNone/>
              <a:defRPr sz="150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670"/>
                </a:solidFill>
                <a:latin typeface="Arial"/>
                <a:ea typeface="Arial"/>
                <a:cs typeface="Arial"/>
              </a:rPr>
              <a:t>Push alerts, saved details, and upcoming trips</a:t>
            </a:r>
          </a:p>
          <a:p xmlns:a="http://schemas.openxmlformats.org/drawingml/2006/main">
            <a:pPr algn="l">
              <a:buNone/>
              <a:defRPr sz="150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670"/>
                </a:solidFill>
                <a:latin typeface="Arial"/>
                <a:ea typeface="Arial"/>
                <a:cs typeface="Arial"/>
              </a:rPr>
              <a:t>Most useful for repeat customers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1741A-9126-408D-B697-AEDD25D9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70"/>
                </a:solidFill>
                <a:latin typeface="Arial"/>
                <a:ea typeface="Arial"/>
                <a:cs typeface="Arial"/>
              </a:rPr>
              <a:t>CUSTOMER CONCEPT  •  SEPTEMBER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F917B-CF4A-4A0D-9C15-63FCB246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007513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4">
            <a:extLst xmlns:a="http://schemas.openxmlformats.org/drawingml/2006/main">
              <a:ext uri="{FF2B5EF4-FFF2-40B4-BE49-F238E27FC236}">
                <a16:creationId xmlns:a16="http://schemas.microsoft.com/office/drawing/2014/main" id="{3058C61E-E062-4378-B880-B852E9FF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FOR YOUR GUESTS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30AF023-96BA-48CC-8503-364D49D7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Guests could handle the whole booking from their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5C493-7CFA-47DD-8796-13F6F654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E172B-2A9D-4241-B288-04BC7347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D6670"/>
                </a:solidFill>
                <a:latin typeface="Arial"/>
                <a:ea typeface="Arial"/>
                <a:cs typeface="Arial"/>
              </a:rPr>
              <a:t>A first-time guest would not need an account. A secure link would bring them back to the same trip.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7A837-C824-4462-86C9-BDB06B63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09975"/>
            <a:ext cx="9315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AC40A-5132-4801-B501-DE38B87D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86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9F3AB-B710-4D96-ACEE-A0132A73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67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B8267-0961-4D11-85AD-FE5B3454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9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310D9-2934-4EF6-B7A1-5C51427F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See trips and open seats</a:t>
            </a:r>
          </a:p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Pick a shared trip or private charter</a:t>
            </a:r>
          </a:p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Add extras or rental gear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395EC-B97B-467F-9FAC-921D976A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86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4CD9A-AEA2-4EB9-96DB-D43B137B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67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99093-D55A-4B0B-9D6E-C420AEC5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66AA2-C114-432E-BB72-87DEF4EE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95825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Pay in full by card</a:t>
            </a:r>
          </a:p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Or pay a charter deposit and later balance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948E3-C0D6-417E-AF66-A43E4E83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86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69C91-9BF0-46B7-B067-67909A6F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67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BA146-5271-4AF3-AFCC-F0D427A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BC97E-1798-4F77-AB9C-4F889475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Invite the group</a:t>
            </a:r>
          </a:p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Add participant details</a:t>
            </a:r>
          </a:p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Sign waivers and read arrival instructions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E9792-C287-490C-9F50-1FAA5035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86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DB0F9-0E59-4C32-B509-5BE4C65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467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213AF-445B-4598-B99F-7AA814AB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9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9539D-3E51-48BC-B67C-537AD435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95825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Pay a balance</a:t>
            </a:r>
          </a:p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Cancel or reschedule when allowed</a:t>
            </a:r>
          </a:p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Get weather updates and refund status</a:t>
            </a:r>
          </a:p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Leave a post-trip tip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F7369B-13E8-451D-9AA8-3FC5270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70"/>
                </a:solidFill>
                <a:latin typeface="Arial"/>
                <a:ea typeface="Arial"/>
                <a:cs typeface="Arial"/>
              </a:rPr>
              <a:t>CUSTOMER CONCEPT  •  SEPTEMBER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85AED9-F27B-49F5-BF74-FF61BD4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4491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5">
            <a:extLst xmlns:a="http://schemas.openxmlformats.org/drawingml/2006/main">
              <a:ext uri="{FF2B5EF4-FFF2-40B4-BE49-F238E27FC236}">
                <a16:creationId xmlns:a16="http://schemas.microsoft.com/office/drawing/2014/main" id="{98B987A1-8A44-4030-BF1F-8C35C7C9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FOR YOUR STAFF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C852185-B49F-4DC2-9879-0953EBAF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Staff could manage each booking in one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E72E4-E652-4D2F-998C-FD3A73B8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4F7AB-46F5-4573-A27C-B89CB2BF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D6670"/>
                </a:solidFill>
                <a:latin typeface="Arial"/>
                <a:ea typeface="Arial"/>
                <a:cs typeface="Arial"/>
              </a:rPr>
              <a:t>A calendar and trip list would show what needs attention before the boat leaves.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CF56C-F314-4D73-BDC9-E0E458E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3562350" cy="1343025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3F027-D038-4775-A3C6-76EFA006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CALENDAR + CAPACITY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21AB0-63EB-4B3B-90F8-B214AEAA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A0A0A"/>
                </a:solidFill>
                <a:latin typeface="Arial"/>
                <a:ea typeface="Arial"/>
                <a:cs typeface="Arial"/>
              </a:rPr>
              <a:t>Trips, boats, open seats, cutoffs, blackouts, and booking holds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056A5-5653-40B6-A7DB-E98455EA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43175"/>
            <a:ext cx="3562350" cy="1343025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FDE4C-A642-49A7-93A0-C98887EC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BOOKING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BF69F-1F78-4856-B332-EDEA26EE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384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A0A0A"/>
                </a:solidFill>
                <a:latin typeface="Arial"/>
                <a:ea typeface="Arial"/>
                <a:cs typeface="Arial"/>
              </a:rPr>
              <a:t>Customer details, participants, notes, history, and phone or walk-up bookings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27198-069E-4997-A0AA-FB5D623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43175"/>
            <a:ext cx="3562350" cy="1343025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11AAF-55D8-4C4E-99F5-D118E3D3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14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6D1E6-5541-49DA-955F-B10E6A51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384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A0A0A"/>
                </a:solidFill>
                <a:latin typeface="Arial"/>
                <a:ea typeface="Arial"/>
                <a:cs typeface="Arial"/>
              </a:rPr>
              <a:t>Paid, deposit, balance due, refund, credit, or outside payment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E50D0-3008-43C9-945C-E7C7876B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3562350" cy="1343025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6A4AE-CEAA-4D41-808C-A757333D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WAIVERS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9A50A-0ED6-4040-BC53-6054099A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A0A0A"/>
                </a:solidFill>
                <a:latin typeface="Arial"/>
                <a:ea typeface="Arial"/>
                <a:cs typeface="Arial"/>
              </a:rPr>
              <a:t>Signed or missing, correct form, guardian signature, and signed copy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A099E-B238-45A8-9AA8-F487A95D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33850"/>
            <a:ext cx="3562350" cy="1343025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4FC92-7C16-43A4-BB3C-4414E503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05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RENTAL GEAR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3502C-77B3-4112-AE79-064CED8A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291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A0A0A"/>
                </a:solidFill>
                <a:latin typeface="Arial"/>
                <a:ea typeface="Arial"/>
                <a:cs typeface="Arial"/>
              </a:rPr>
              <a:t>What is reserved, size and quantity, price, and blocked-out inventory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30359-01DF-42A3-91DC-3EB72E91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33850"/>
            <a:ext cx="3562350" cy="1343025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34CC6-A318-4B1E-A3C9-106C5515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MESSAGES + 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6EFB1-F266-4EA8-BCFE-6CC9A288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91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A0A0A"/>
                </a:solidFill>
                <a:latin typeface="Arial"/>
                <a:ea typeface="Arial"/>
                <a:cs typeface="Arial"/>
              </a:rPr>
              <a:t>Email and text status, trip roster, revenue, tax, tips, and refunds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0A3A4-F663-4BAC-A5C1-03BE0DEF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57850"/>
            <a:ext cx="4991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D3CC77-256B-4FF2-ABB5-EA7988D7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781675"/>
            <a:ext cx="445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  •  WAIVER  •  GEAR  •  GUESTS, ALL IN ONE 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9FF4B-9AC7-4E7F-AF79-5DCE5E4B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70"/>
                </a:solidFill>
                <a:latin typeface="Arial"/>
                <a:ea typeface="Arial"/>
                <a:cs typeface="Arial"/>
              </a:rPr>
              <a:t>CUSTOMER CONCEPT  •  SEPTEMBER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2947B-6C4D-4F09-A085-7559BD98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3982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4">
            <a:extLst xmlns:a="http://schemas.openxmlformats.org/drawingml/2006/main">
              <a:ext uri="{FF2B5EF4-FFF2-40B4-BE49-F238E27FC236}">
                <a16:creationId xmlns:a16="http://schemas.microsoft.com/office/drawing/2014/main" id="{3058C61E-E062-4378-B880-B852E9FF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WHEN PLANS CHANGE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30AF023-96BA-48CC-8503-364D49D7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One trip change could update every related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5C493-7CFA-47DD-8796-13F6F654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E172B-2A9D-4241-B288-04BC7347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D6670"/>
                </a:solidFill>
                <a:latin typeface="Arial"/>
                <a:ea typeface="Arial"/>
                <a:cs typeface="Arial"/>
              </a:rPr>
              <a:t>Example: staff reviews the weather and cancels a trip. The software never makes that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7A837-C824-4462-86C9-BDB06B63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09975"/>
            <a:ext cx="9315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AC40A-5132-4801-B501-DE38B87D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86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9F3AB-B710-4D96-ACEE-A0132A73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67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B8267-0961-4D11-85AD-FE5B3454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9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310D9-2934-4EF6-B7A1-5C51427F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Staff reviews the forecast and decides whether the trip will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395EC-B97B-467F-9FAC-921D976A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86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4CD9A-AEA2-4EB9-96DB-D43B137B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67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99093-D55A-4B0B-9D6E-C420AEC5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66AA2-C114-432E-BB72-87DEF4EE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95825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For each booking, staff chooses a refund or service credit.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948E3-C0D6-417E-AF66-A43E4E83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86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69C91-9BF0-46B7-B067-67909A6F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67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BA146-5271-4AF3-AFCC-F0D427A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BC97E-1798-4F77-AB9C-4F889475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TideGrid releases seats and gear and records the refund or credit.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E9792-C287-490C-9F50-1FAA5035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86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DB0F9-0E59-4C32-B509-5BE4C65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467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213AF-445B-4598-B99F-7AA814AB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9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Notify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9539D-3E51-48BC-B67C-537AD435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95825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Guests receive email or text with the decision and their result.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F7369B-13E8-451D-9AA8-3FC5270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70"/>
                </a:solidFill>
                <a:latin typeface="Arial"/>
                <a:ea typeface="Arial"/>
                <a:cs typeface="Arial"/>
              </a:rPr>
              <a:t>CUSTOMER CONCEPT  •  SEPTEMBER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85AED9-F27B-49F5-BF74-FF61BD4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4491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6">
            <a:extLst xmlns:a="http://schemas.openxmlformats.org/drawingml/2006/main">
              <a:ext uri="{FF2B5EF4-FFF2-40B4-BE49-F238E27FC236}">
                <a16:creationId xmlns:a16="http://schemas.microsoft.com/office/drawing/2014/main" id="{4948088A-7A6F-4290-8AD4-263672F8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YOU STAY IN CONTROL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AFEC05C-B565-45B7-A462-09BDDD1D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You keep the money and the business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5A95B-FCF3-4335-B9F8-77ADFCD8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AEAF9-3862-44D1-975F-90B91F28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D6670"/>
                </a:solidFill>
                <a:latin typeface="Arial"/>
                <a:ea typeface="Arial"/>
                <a:cs typeface="Arial"/>
              </a:rPr>
              <a:t>TideGrid would provide booking software. It would not run your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3241C-0737-427C-8AFB-3E07EE80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5438775" cy="3343275"/>
          </a:xfrm>
          <a:prstGeom xmlns:a="http://schemas.openxmlformats.org/drawingml/2006/main" prst="roundRect">
            <a:avLst>
              <a:gd name="adj" fmla="val 2279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F4C23-579F-440C-B6D7-AC450569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43175"/>
            <a:ext cx="5438775" cy="3343275"/>
          </a:xfrm>
          <a:prstGeom xmlns:a="http://schemas.openxmlformats.org/drawingml/2006/main" prst="roundRect">
            <a:avLst>
              <a:gd name="adj" fmla="val 2279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6BD0C-903F-4C67-BFEA-F58E3C9D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YOU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B35C6-9255-45EA-930B-4075A037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rules, customer payments, and trip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CCA4E-7456-4246-A1EA-E0B1E58B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591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 your prices and booking rules</a:t>
            </a:r>
          </a:p>
          <a:p xmlns:a="http://schemas.openxmlformats.org/drawingml/2006/main">
            <a:pPr algn="l"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your waiver wording</a:t>
            </a:r>
          </a:p>
          <a:p xmlns:a="http://schemas.openxmlformats.org/drawingml/2006/main">
            <a:pPr algn="l"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 whether each trip runs</a:t>
            </a:r>
          </a:p>
          <a:p xmlns:a="http://schemas.openxmlformats.org/drawingml/2006/main">
            <a:pPr algn="l"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refunds or service credits</a:t>
            </a:r>
          </a:p>
          <a:p xmlns:a="http://schemas.openxmlformats.org/drawingml/2006/main">
            <a:pPr algn="l"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card payments go to your Stripe 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6997C-E7DD-4DE5-9F36-A13AA6F5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9082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spc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spc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NOT IN THE FIRST 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4CAA3-DF8D-4558-B398-C176580F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813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TideGrid is not trying to run the boat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6C4BB-BA07-4A00-9D98-A9AA3B14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05250"/>
            <a:ext cx="46196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670"/>
                </a:solidFill>
                <a:latin typeface="Arial"/>
                <a:ea typeface="Arial"/>
                <a:cs typeface="Arial"/>
              </a:rPr>
              <a:t>No live connection to Viator, GetYourGuide, or Expedia</a:t>
            </a:r>
          </a:p>
          <a:p xmlns:a="http://schemas.openxmlformats.org/drawingml/2006/main">
            <a:pPr algn="l">
              <a:buNone/>
              <a:defRPr sz="13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670"/>
                </a:solidFill>
                <a:latin typeface="Arial"/>
                <a:ea typeface="Arial"/>
                <a:cs typeface="Arial"/>
              </a:rPr>
              <a:t>No marketing campaigns or WhatsApp</a:t>
            </a:r>
          </a:p>
          <a:p xmlns:a="http://schemas.openxmlformats.org/drawingml/2006/main">
            <a:pPr algn="l">
              <a:buNone/>
              <a:defRPr sz="13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670"/>
                </a:solidFill>
                <a:latin typeface="Arial"/>
                <a:ea typeface="Arial"/>
                <a:cs typeface="Arial"/>
              </a:rPr>
              <a:t>No crew, payroll, manifest, or maintenance tools</a:t>
            </a:r>
          </a:p>
          <a:p xmlns:a="http://schemas.openxmlformats.org/drawingml/2006/main">
            <a:pPr algn="l">
              <a:buNone/>
              <a:defRPr sz="13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670"/>
                </a:solidFill>
                <a:latin typeface="Arial"/>
                <a:ea typeface="Arial"/>
                <a:cs typeface="Arial"/>
              </a:rPr>
              <a:t>No automatic weather decisions</a:t>
            </a:r>
          </a:p>
          <a:p xmlns:a="http://schemas.openxmlformats.org/drawingml/2006/main">
            <a:pPr algn="l">
              <a:buNone/>
              <a:defRPr sz="13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670"/>
                </a:solidFill>
                <a:latin typeface="Arial"/>
                <a:ea typeface="Arial"/>
                <a:cs typeface="Arial"/>
              </a:rPr>
              <a:t>No points, gift cards, or per-item gear tracking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00DAA-F82A-4E7D-9806-15399133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70"/>
                </a:solidFill>
                <a:latin typeface="Arial"/>
                <a:ea typeface="Arial"/>
                <a:cs typeface="Arial"/>
              </a:rPr>
              <a:t>CUSTOMER CONCEPT  •  SEPTEMBER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9BF2F-1876-4558-B5BA-7210D66B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5336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7">
            <a:extLst xmlns:a="http://schemas.openxmlformats.org/drawingml/2006/main">
              <a:ext uri="{FF2B5EF4-FFF2-40B4-BE49-F238E27FC236}">
                <a16:creationId xmlns:a16="http://schemas.microsoft.com/office/drawing/2014/main" id="{4871C162-07D0-444D-85F0-B19393BB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PRICING TO TEST  •  NOT AN OFFER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649C084E-5B22-47BC-814D-46251C81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Software, setup help, and the app are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EE01B-29C1-450E-9084-C5CEDCE1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6D89A-B28B-4015-B192-5BBF855B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562350" cy="36195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3AE7E-BD54-4E4E-B756-EF9A7A3C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BOOKING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44E9F-F8A6-46DC-B643-F5120344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$149 / month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292F0-0410-4E4D-AA1B-5EDBB908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31051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+ 1.5% of completed booking sales*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 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$0 setup if you configure it yourself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Two active boats included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12-month commitment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Minimum Booking System fees: $3,000/year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B3E6C-58BE-4CDB-9987-90808F6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43100"/>
            <a:ext cx="3562350" cy="36195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2DC97-5BCB-4D11-B341-EC67BE11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336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OPTIONAL SETUP 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14371-3C46-490A-9F5E-80D10AFC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574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$1,000 once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EB0DB-D92A-458B-92DB-391F217E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62300"/>
            <a:ext cx="31051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We load your trips and booking rules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Import a standard spreadsheet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Set up your waiver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Train staff and help you launch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$0 if you do it yourself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B2BF2-4A21-40E0-951D-194D924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562350" cy="36195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97014-CD6E-406B-B48F-887ABC12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OPTIONAL CUSTOMER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388EE-9DCE-4D8F-9916-934829F1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$4,500 app 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EA4B2-EBFE-4D12-9F20-0D41C2FB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31051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Total with Booking System: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$548/month + 1.75%*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Your branded iPhone and Android app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All boats in one business app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12-month commitment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Possible future pilot: $2,250 app setup</a:t>
            </a:r>
          </a:p>
          <a:p xmlns:a="http://schemas.openxmlformats.org/drawingml/2006/main">
            <a:pPr algn="l">
              <a:buNone/>
              <a:defRPr sz="1275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0"/>
                </a:solidFill>
                <a:latin typeface="Arial"/>
                <a:ea typeface="Arial"/>
                <a:cs typeface="Arial"/>
              </a:rPr>
              <a:t>Not currently 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45217-919E-4789-AF48-4B65D8E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6E770-F30E-4F6F-AD40-DB8DAE12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829300"/>
            <a:ext cx="1099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*Completed booking sales managed in TideGrid; taxes, tips, and refunds excluded. Stripe, texting, domain, and app-store costs pass through at cost.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411F1-7F35-47E3-9108-55EA558D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70"/>
                </a:solidFill>
                <a:latin typeface="Arial"/>
                <a:ea typeface="Arial"/>
                <a:cs typeface="Arial"/>
              </a:rPr>
              <a:t>CUSTOMER CONCEPT  •  SEPTEMBER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22E37-595B-481B-BD6A-934044F0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9558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8">
            <a:extLst xmlns:a="http://schemas.openxmlformats.org/drawingml/2006/main">
              <a:ext uri="{FF2B5EF4-FFF2-40B4-BE49-F238E27FC236}">
                <a16:creationId xmlns:a16="http://schemas.microsoft.com/office/drawing/2014/main" id="{3D0FC360-C872-4CE8-9F77-65B79FDD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spc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spc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NEXT CONVERSATION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28616590-6267-480C-85F5-99AA3B7F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Help us find what is useful, missing, or unrealistic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2B041-C3B1-48D9-9FBD-18B5F789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9E116-8E29-4B25-8C3E-7FD32F5D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9530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310EC-C39A-46FB-BF4B-E8D880F3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60388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35221-3B5C-4379-9B35-D4635159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THIS MAY FIT IF YOU HAVE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15B05-39C3-48AE-A2D3-DCC432D7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18095-4FA3-48E7-97BB-38859171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3DEF5-377E-40F0-A0D4-F21E26CC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52725"/>
            <a:ext cx="366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1–5 boats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9ECBA-69F8-4916-8A54-473FF339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24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914D8-4093-4AB8-B8BA-4A3CABD1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4415D-DE28-4FF6-8CB2-FEDAF091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52800"/>
            <a:ext cx="366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Most bookings come directly to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08026-9111-4E21-B597-2C4C86FC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4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5DE27-8C37-44D2-95AA-47C91781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667FE-5A83-4593-87D9-7D2BB881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952875"/>
            <a:ext cx="366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Customers who book again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7B9C7-EC73-4E10-8FA4-F0020689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24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27E9D-B392-48BD-A9C6-0534551F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09517-5CDB-4819-BFC0-2D69498D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52950"/>
            <a:ext cx="366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Staff switching between several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3C53C-DF97-4E6C-B4D5-F4F13584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 A 45-MINUTE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C01F0D-DC02-4E52-9FBF-DD7F8FEE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43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9774A-C4DD-4989-84E8-55B05B7D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4625"/>
            <a:ext cx="461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Walk through one real 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58959-B76C-40FE-A2EB-591F08D3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813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76FFE-1F5E-4958-96B8-4494D515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52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EE47E-8535-4AD5-BE6B-CCC4A5EA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24225"/>
            <a:ext cx="461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Show what happens when plans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080540-E451-46C4-8AD7-00AB878A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90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F594F-9F07-4E13-B979-19D2A85E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62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3639F-FAAC-4321-8C63-19D32F72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33825"/>
            <a:ext cx="461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Review your current tools and costs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5F366-0838-4A2C-AE56-7F489C3D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005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0455A-41E9-4FE4-8CB3-3833AB74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81E7F8-DF0D-4D2C-AAA3-A5761EBA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43425"/>
            <a:ext cx="461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Challenge the web, app, features, and price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D4BADF-3250-4F20-A59E-6FA3B479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No purchase decision is required. TideGrid is not accepting deposits.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To participate, reply to the person who shared this deck.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CA8B18-4124-48FA-8925-D0006132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70"/>
                </a:solidFill>
                <a:latin typeface="Arial"/>
                <a:ea typeface="Arial"/>
                <a:cs typeface="Arial"/>
              </a:rPr>
              <a:t>CUSTOMER CONCEPT  •  SEPTEMBER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B6F4CE-0466-4FE3-A8FF-31B01047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30368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2026-09-03T22:34:34.5200000Z</dcterms:created>
  <dcterms:modified xsi:type="dcterms:W3CDTF">2026-09-03T22:34:34.5200000Z</dcterms:modified>
</coreProperties>
</file>