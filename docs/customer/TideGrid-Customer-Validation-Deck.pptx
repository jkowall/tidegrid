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4539c9a45da47aa" /><Relationship Type="http://schemas.openxmlformats.org/officeDocument/2006/relationships/extended-properties" Target="/docProps/app.xml" Id="Rc63f6805266e4a3f" /><Relationship Type="http://schemas.openxmlformats.org/officeDocument/2006/relationships/officeDocument" Target="/ppt/presentation.xml" Id="R446dc29d09884f1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bf754ca87b749c2"/>
  </p:sldMasterIdLst>
  <p:notesMasterIdLst>
    <p:notesMasterId xmlns:r="http://schemas.openxmlformats.org/officeDocument/2006/relationships" r:id="R4138f217ec61451b"/>
  </p:notesMasterIdLst>
  <p:sldIdLst>
    <p:sldId xmlns:r="http://schemas.openxmlformats.org/officeDocument/2006/relationships" id="256" r:id="Rb940d82fb0d24a14"/>
    <p:sldId xmlns:r="http://schemas.openxmlformats.org/officeDocument/2006/relationships" id="257" r:id="R2fe7adf3e15849c7"/>
    <p:sldId xmlns:r="http://schemas.openxmlformats.org/officeDocument/2006/relationships" id="258" r:id="R83ccb086d2b547cc"/>
    <p:sldId xmlns:r="http://schemas.openxmlformats.org/officeDocument/2006/relationships" id="259" r:id="R2b4d9abb4ce44526"/>
    <p:sldId xmlns:r="http://schemas.openxmlformats.org/officeDocument/2006/relationships" id="260" r:id="R9d12c9bdebdc49f8"/>
    <p:sldId xmlns:r="http://schemas.openxmlformats.org/officeDocument/2006/relationships" id="261" r:id="R40b70a254c294478"/>
    <p:sldId xmlns:r="http://schemas.openxmlformats.org/officeDocument/2006/relationships" id="262" r:id="R254fd108412945e6"/>
    <p:sldId xmlns:r="http://schemas.openxmlformats.org/officeDocument/2006/relationships" id="263" r:id="R8edb091269234ff2"/>
    <p:sldId xmlns:r="http://schemas.openxmlformats.org/officeDocument/2006/relationships" id="264" r:id="Rd717d38ee08848d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05d2e3b914f40ee" /><Relationship Type="http://schemas.openxmlformats.org/officeDocument/2006/relationships/slideMaster" Target="/ppt/slideMasters/slideMaster1.xml" Id="Rdbf754ca87b749c2" /><Relationship Type="http://schemas.openxmlformats.org/officeDocument/2006/relationships/notesMaster" Target="/ppt/notesMasters/notesMaster1.xml" Id="R4138f217ec61451b" /><Relationship Type="http://schemas.openxmlformats.org/officeDocument/2006/relationships/presProps" Target="/ppt/presProps.xml" Id="Rfe1ba50aa87446f3" /><Relationship Type="http://schemas.openxmlformats.org/officeDocument/2006/relationships/tableStyles" Target="/ppt/tableStyles.xml" Id="Rfc56690d8da1439f" /><Relationship Type="http://schemas.openxmlformats.org/officeDocument/2006/relationships/slide" Target="/ppt/slides/slide1.xml" Id="Rb940d82fb0d24a14" /><Relationship Type="http://schemas.openxmlformats.org/officeDocument/2006/relationships/slide" Target="/ppt/slides/slide2.xml" Id="R2fe7adf3e15849c7" /><Relationship Type="http://schemas.openxmlformats.org/officeDocument/2006/relationships/slide" Target="/ppt/slides/slide3.xml" Id="R83ccb086d2b547cc" /><Relationship Type="http://schemas.openxmlformats.org/officeDocument/2006/relationships/slide" Target="/ppt/slides/slide4.xml" Id="R2b4d9abb4ce44526" /><Relationship Type="http://schemas.openxmlformats.org/officeDocument/2006/relationships/slide" Target="/ppt/slides/slide5.xml" Id="R9d12c9bdebdc49f8" /><Relationship Type="http://schemas.openxmlformats.org/officeDocument/2006/relationships/slide" Target="/ppt/slides/slide6.xml" Id="R40b70a254c294478" /><Relationship Type="http://schemas.openxmlformats.org/officeDocument/2006/relationships/slide" Target="/ppt/slides/slide7.xml" Id="R254fd108412945e6" /><Relationship Type="http://schemas.openxmlformats.org/officeDocument/2006/relationships/slide" Target="/ppt/slides/slide8.xml" Id="R8edb091269234ff2" /><Relationship Type="http://schemas.openxmlformats.org/officeDocument/2006/relationships/slide" Target="/ppt/slides/slide9.xml" Id="Rd717d38ee08848d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178ea2a9f4f49e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ea0f882584a4bb2" /><Relationship Type="http://schemas.openxmlformats.org/officeDocument/2006/relationships/notesMaster" Target="/ppt/notesMasters/notesMaster1.xml" Id="Rd24f58896b5a496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e42d01f002d4b8d" /><Relationship Type="http://schemas.openxmlformats.org/officeDocument/2006/relationships/notesMaster" Target="/ppt/notesMasters/notesMaster1.xml" Id="Rf5a7329ee3954d0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e6883a4b7b84e78" /><Relationship Type="http://schemas.openxmlformats.org/officeDocument/2006/relationships/notesMaster" Target="/ppt/notesMasters/notesMaster1.xml" Id="Rb6425de3fd874bf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4670bf0efbc4425" /><Relationship Type="http://schemas.openxmlformats.org/officeDocument/2006/relationships/notesMaster" Target="/ppt/notesMasters/notesMaster1.xml" Id="Rf457dc65224f46a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8444b9dca564a11" /><Relationship Type="http://schemas.openxmlformats.org/officeDocument/2006/relationships/notesMaster" Target="/ppt/notesMasters/notesMaster1.xml" Id="R661662c4c68c49c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6d46e6d114048f7" /><Relationship Type="http://schemas.openxmlformats.org/officeDocument/2006/relationships/notesMaster" Target="/ppt/notesMasters/notesMaster1.xml" Id="Rb11b0af82e8e4f3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bfde229edbd41d8" /><Relationship Type="http://schemas.openxmlformats.org/officeDocument/2006/relationships/notesMaster" Target="/ppt/notesMasters/notesMaster1.xml" Id="R1488584fd241460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639e531ef73405b" /><Relationship Type="http://schemas.openxmlformats.org/officeDocument/2006/relationships/notesMaster" Target="/ppt/notesMasters/notesMaster1.xml" Id="R7d0f99a294494e7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b44945c526e4fcf" /><Relationship Type="http://schemas.openxmlformats.org/officeDocument/2006/relationships/notesMaster" Target="/ppt/notesMasters/notesMaster1.xml" Id="R92dc85eefca9489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plain-language product promise. Make clear that this is a proposed product, not a finished system or active offer.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TideGrid internal validation brief,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as the feature overview. Ask which column contains the most valuable work and which capability is unnecessary.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TideGrid internal validation brief,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the native app is not required for booking. It is a branded repeat-customer channel that uses the same underlying system as web booking.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TideGrid internal validation brief, September 2026</a:t>
            </a:r>
          </a:p>
          <a:p xmlns:a="http://schemas.openxmlformats.org/drawingml/2006/main">
            <a:r>
              <a:t>- https://developer.apple.com/app-store/review/guidelines/</a:t>
            </a:r>
          </a:p>
          <a:p xmlns:a="http://schemas.openxmlformats.org/drawingml/2006/main">
            <a:r>
              <a:t>- https://support.google.com/googleplay/android-developer/answer/13628312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The guest experience is designed to work without forcing account creation for the first booking.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TideGrid internal validation brief,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Translate each box into the staff member's daily work. Ask what they need to know at a glance before departure.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TideGrid internal validation brief,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hypothetical example to make the connected-record value tangible. Stress that an authorized person always decides whether the trip runs and which remedy applies.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TideGrid internal validation brief, September 2026</a:t>
            </a:r>
          </a:p>
          <a:p xmlns:a="http://schemas.openxmlformats.org/drawingml/2006/main">
            <a:r>
              <a:t>- https://www.weather.gov/documentation/services-web-api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Confirm that direct payments into the operator's own Stripe account and human control of policies and trip decisions address the operator's concerns.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TideGrid internal validation brief, September 2026</a:t>
            </a:r>
          </a:p>
          <a:p xmlns:a="http://schemas.openxmlformats.org/drawingml/2006/main">
            <a:r>
              <a:t>- https://docs.stripe.com/connect/direct-charges</a:t>
            </a:r>
          </a:p>
          <a:p xmlns:a="http://schemas.openxmlformats.org/drawingml/2006/main">
            <a:r>
              <a:t>- https://developer.apple.com/app-store/review/guidelines/</a:t>
            </a:r>
          </a:p>
          <a:p xmlns:a="http://schemas.openxmlformats.org/drawingml/2006/main">
            <a:r>
              <a:t>- https://support.google.com/googleplay/android-developer/answer/13628312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Test each pricing component separately: software, optional setup help, and optional native app. No deposit or commitment is being requested during validation.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TideGrid internal validation brief,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End with a concrete request for a 45-minute validation conversation. Ask for criticism, not encouragement or a purchase decision.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TideGrid internal validation brief,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4cc40cab4c49c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5ffac4ccd0f47ce" /><Relationship Type="http://schemas.openxmlformats.org/officeDocument/2006/relationships/slideLayout" Target="/ppt/slideLayouts/slideLayout1.xml" Id="R467882fd058e4eb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67882fd058e4eb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aaa443a7d84a48" /><Relationship Type="http://schemas.openxmlformats.org/officeDocument/2006/relationships/notesSlide" Target="/ppt/notesSlides/notesSlide1.xml" Id="Rb4a1998d82344cc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da11b3cb654253" /><Relationship Type="http://schemas.openxmlformats.org/officeDocument/2006/relationships/notesSlide" Target="/ppt/notesSlides/notesSlide2.xml" Id="R3359510a8eaf4ca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5eb71434084daf" /><Relationship Type="http://schemas.openxmlformats.org/officeDocument/2006/relationships/notesSlide" Target="/ppt/notesSlides/notesSlide3.xml" Id="Ree79bc5a044945c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b5b3458d784c55" /><Relationship Type="http://schemas.openxmlformats.org/officeDocument/2006/relationships/notesSlide" Target="/ppt/notesSlides/notesSlide4.xml" Id="Rcbc4fca3bb2c46d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cb456b623f4d2e" /><Relationship Type="http://schemas.openxmlformats.org/officeDocument/2006/relationships/notesSlide" Target="/ppt/notesSlides/notesSlide5.xml" Id="R51963dda70ec496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9e682e03ea4680" /><Relationship Type="http://schemas.openxmlformats.org/officeDocument/2006/relationships/notesSlide" Target="/ppt/notesSlides/notesSlide6.xml" Id="R684e1921c3d54c7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fb8881db384022" /><Relationship Type="http://schemas.openxmlformats.org/officeDocument/2006/relationships/notesSlide" Target="/ppt/notesSlides/notesSlide7.xml" Id="Rc270d78f6f85449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aa034369f749c4" /><Relationship Type="http://schemas.openxmlformats.org/officeDocument/2006/relationships/notesSlide" Target="/ppt/notesSlides/notesSlide8.xml" Id="Rc0c89d05612a4e5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fd580007164cc1" /><Relationship Type="http://schemas.openxmlformats.org/officeDocument/2006/relationships/notesSlide" Target="/ppt/notesSlides/notesSlide9.xml" Id="R98f451431be5433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261037-253C-48D0-9C08-AFAC0B381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829A15-9679-4284-9D50-CFFF2D3F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000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TIDEGRID  •  CUSTOMER CONCEPT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DDC24F-20D1-48B1-BE26-E8E79041E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66850"/>
            <a:ext cx="10572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A booking system under your brand,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with an optional customer app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181D67-4FC3-4FFE-9240-84B5905C3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410075"/>
            <a:ext cx="8477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8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5D6670"/>
                </a:solidFill>
                <a:latin typeface="Arial"/>
                <a:ea typeface="Arial"/>
                <a:cs typeface="Arial"/>
              </a:rPr>
              <a:t>For boat-tour, dive, fishing, and charter businesses: bookings, payments, waivers, texts, rental gear, and trip changes in one place.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0EDDC7-57C2-44F3-B1FF-72BC4D2FC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457700"/>
            <a:ext cx="22288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DDF3FF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50E9ED-D22B-46FB-AA1F-6619B46BD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638675"/>
            <a:ext cx="1771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PLAIN-LANGUAGE</a:t>
            </a:r>
          </a:p>
          <a:p xmlns:a="http://schemas.openxmlformats.org/drawingml/2006/main">
            <a:pPr algn="ctr">
              <a:buNone/>
              <a:defRPr sz="112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CONCEPT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E3B994-9E62-4A2C-84AC-476E9175C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1912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D6670"/>
                </a:solidFill>
                <a:latin typeface="Arial"/>
                <a:ea typeface="Arial"/>
                <a:cs typeface="Arial"/>
              </a:rPr>
              <a:t>The product, prices, and timing are still being tested.</a:t>
            </a:r>
          </a:p>
        </p:txBody>
      </p:sp>
    </p:spTree>
    <p:extLst>
      <p:ext uri="{BB962C8B-B14F-4D97-AF65-F5344CB8AC3E}">
        <p14:creationId xmlns:p14="http://schemas.microsoft.com/office/powerpoint/2010/main" val="115063189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kicker-2">
            <a:extLst xmlns:a="http://schemas.openxmlformats.org/drawingml/2006/main">
              <a:ext uri="{FF2B5EF4-FFF2-40B4-BE49-F238E27FC236}">
                <a16:creationId xmlns:a16="http://schemas.microsoft.com/office/drawing/2014/main" id="{39ABE9C1-56E7-47C4-A381-31BEAD669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WHAT IT WOULD DO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57B82C3A-BE7A-4879-9817-446AA203E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0075"/>
            <a:ext cx="11001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Bookings, payments, waivers, messages, and gear in one place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9A46C7-3563-4CD1-959B-8BA3D155D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525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8E80A5-6193-45AA-A517-20CABF3AD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81175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5D6670"/>
                </a:solidFill>
                <a:latin typeface="Arial"/>
                <a:ea typeface="Arial"/>
                <a:cs typeface="Arial"/>
              </a:rPr>
              <a:t>Customers could book and prepare. Staff could see what is paid, signed, reserved, or needs attention.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A89922-BB77-40BF-8D26-A6B6A6C16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28900"/>
            <a:ext cx="35623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2F4F6"/>
          </a:solidFill>
          <a:ln xmlns:a="http://schemas.openxmlformats.org/drawingml/2006/main" w="9525">
            <a:solidFill>
              <a:srgbClr val="D8DEE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28BA01-B3CD-4E99-94B5-5FF45C427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19400"/>
            <a:ext cx="3105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SELL THE TRIP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29694F-788F-483A-A15A-091C21D36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43250"/>
            <a:ext cx="31051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Show trips and take bookings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EF1732-17FC-4F95-B02B-490A739FF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48100"/>
            <a:ext cx="31051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42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5D6670"/>
                </a:solidFill>
                <a:latin typeface="Arial"/>
                <a:ea typeface="Arial"/>
                <a:cs typeface="Arial"/>
              </a:rPr>
              <a:t>Shared trips or private charters</a:t>
            </a:r>
          </a:p>
          <a:p xmlns:a="http://schemas.openxmlformats.org/drawingml/2006/main">
            <a:pPr algn="l">
              <a:buNone/>
              <a:defRPr sz="142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5D6670"/>
                </a:solidFill>
                <a:latin typeface="Arial"/>
                <a:ea typeface="Arial"/>
                <a:cs typeface="Arial"/>
              </a:rPr>
              <a:t>Online, phone, or walk-up</a:t>
            </a:r>
          </a:p>
          <a:p xmlns:a="http://schemas.openxmlformats.org/drawingml/2006/main">
            <a:pPr algn="l">
              <a:buNone/>
              <a:defRPr sz="142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5D6670"/>
                </a:solidFill>
                <a:latin typeface="Arial"/>
                <a:ea typeface="Arial"/>
                <a:cs typeface="Arial"/>
              </a:rPr>
              <a:t>Schedules, boats, seats, and cutoffs</a:t>
            </a:r>
          </a:p>
          <a:p xmlns:a="http://schemas.openxmlformats.org/drawingml/2006/main">
            <a:pPr algn="l">
              <a:buNone/>
              <a:defRPr sz="142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5D6670"/>
                </a:solidFill>
                <a:latin typeface="Arial"/>
                <a:ea typeface="Arial"/>
                <a:cs typeface="Arial"/>
              </a:rPr>
              <a:t>Add-ons, fees, taxes, and promo codes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930302-1C21-49BC-BF20-2F39E071D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28900"/>
            <a:ext cx="35623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DDF3FF"/>
          </a:solidFill>
          <a:ln xmlns:a="http://schemas.openxmlformats.org/drawingml/2006/main" w="9525">
            <a:solidFill>
              <a:srgbClr val="D8DEE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213FD9-3E2A-491B-A181-E7257FD4F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819400"/>
            <a:ext cx="3105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GET PAID + READY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61487B-E7CB-400D-9065-F4D01C4F9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143250"/>
            <a:ext cx="31051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Collect money and paperwork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55EEE4-083D-4F9E-AD0A-EC87DA853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848100"/>
            <a:ext cx="31051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42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5D6670"/>
                </a:solidFill>
                <a:latin typeface="Arial"/>
                <a:ea typeface="Arial"/>
                <a:cs typeface="Arial"/>
              </a:rPr>
              <a:t>Full payment or a deposit and balance</a:t>
            </a:r>
          </a:p>
          <a:p xmlns:a="http://schemas.openxmlformats.org/drawingml/2006/main">
            <a:pPr algn="l">
              <a:buNone/>
              <a:defRPr sz="142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5D6670"/>
                </a:solidFill>
                <a:latin typeface="Arial"/>
                <a:ea typeface="Arial"/>
                <a:cs typeface="Arial"/>
              </a:rPr>
              <a:t>Guest and participant details</a:t>
            </a:r>
          </a:p>
          <a:p xmlns:a="http://schemas.openxmlformats.org/drawingml/2006/main">
            <a:pPr algn="l">
              <a:buNone/>
              <a:defRPr sz="142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5D6670"/>
                </a:solidFill>
                <a:latin typeface="Arial"/>
                <a:ea typeface="Arial"/>
                <a:cs typeface="Arial"/>
              </a:rPr>
              <a:t>Digital waivers, including guardians</a:t>
            </a:r>
          </a:p>
          <a:p xmlns:a="http://schemas.openxmlformats.org/drawingml/2006/main">
            <a:pPr algn="l">
              <a:buNone/>
              <a:defRPr sz="142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5D6670"/>
                </a:solidFill>
                <a:latin typeface="Arial"/>
                <a:ea typeface="Arial"/>
                <a:cs typeface="Arial"/>
              </a:rPr>
              <a:t>Rental gear and size requests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308554-7B10-447C-9F1B-0BBDC4A66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28900"/>
            <a:ext cx="35623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2F4F6"/>
          </a:solidFill>
          <a:ln xmlns:a="http://schemas.openxmlformats.org/drawingml/2006/main" w="9525">
            <a:solidFill>
              <a:srgbClr val="D8DEE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AC1FCB-1920-4129-9C25-BCD1D1AD6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819400"/>
            <a:ext cx="3105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STAY CONNECTED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EA33DF-69F8-4F20-AB35-3B069570E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143250"/>
            <a:ext cx="31051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Handle changes and repeat visits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3C8EE2-96ED-4D6A-886E-521588449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848100"/>
            <a:ext cx="31051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42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5D6670"/>
                </a:solidFill>
                <a:latin typeface="Arial"/>
                <a:ea typeface="Arial"/>
                <a:cs typeface="Arial"/>
              </a:rPr>
              <a:t>Email and text confirmations</a:t>
            </a:r>
          </a:p>
          <a:p xmlns:a="http://schemas.openxmlformats.org/drawingml/2006/main">
            <a:pPr algn="l">
              <a:buNone/>
              <a:defRPr sz="142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5D6670"/>
                </a:solidFill>
                <a:latin typeface="Arial"/>
                <a:ea typeface="Arial"/>
                <a:cs typeface="Arial"/>
              </a:rPr>
              <a:t>Arrival and weather updates</a:t>
            </a:r>
          </a:p>
          <a:p xmlns:a="http://schemas.openxmlformats.org/drawingml/2006/main">
            <a:pPr algn="l">
              <a:buNone/>
              <a:defRPr sz="142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5D6670"/>
                </a:solidFill>
                <a:latin typeface="Arial"/>
                <a:ea typeface="Arial"/>
                <a:cs typeface="Arial"/>
              </a:rPr>
              <a:t>Guest cancellations or rescheduling</a:t>
            </a:r>
          </a:p>
          <a:p xmlns:a="http://schemas.openxmlformats.org/drawingml/2006/main">
            <a:pPr algn="l">
              <a:buNone/>
              <a:defRPr sz="142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5D6670"/>
                </a:solidFill>
                <a:latin typeface="Arial"/>
                <a:ea typeface="Arial"/>
                <a:cs typeface="Arial"/>
              </a:rPr>
              <a:t>Refunds or service credits</a:t>
            </a:r>
          </a:p>
          <a:p xmlns:a="http://schemas.openxmlformats.org/drawingml/2006/main">
            <a:pPr algn="l">
              <a:buNone/>
              <a:defRPr sz="142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5D6670"/>
                </a:solidFill>
                <a:latin typeface="Arial"/>
                <a:ea typeface="Arial"/>
                <a:cs typeface="Arial"/>
              </a:rPr>
              <a:t>Tip requests and trip packages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2289AD-14A6-40A0-9234-A3A7AF87E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43600"/>
            <a:ext cx="10287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Everything would stay tied to the same booking.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8FE096-AE33-449C-8127-4D985A45C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5D6670"/>
                </a:solidFill>
                <a:latin typeface="Arial"/>
                <a:ea typeface="Arial"/>
                <a:cs typeface="Arial"/>
              </a:rPr>
              <a:t>CUSTOMER CONCEPT  •  SEPTEMBER 2026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C8DEC0-D2EE-400E-9C6F-574820C8B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4284252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kicker-3">
            <a:extLst xmlns:a="http://schemas.openxmlformats.org/drawingml/2006/main">
              <a:ext uri="{FF2B5EF4-FFF2-40B4-BE49-F238E27FC236}">
                <a16:creationId xmlns:a16="http://schemas.microsoft.com/office/drawing/2014/main" id="{E56EDBEF-DAA1-4418-8497-67E76EC0E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YOUR BRAND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B004115F-A777-467A-869E-49B4C0417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0075"/>
            <a:ext cx="11001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Web booking is included. A native app is optional.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0DC000-AC72-4C2E-B258-04924B9BD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525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27C53E-929D-4D11-89D8-612EBC662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71650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5D6670"/>
                </a:solidFill>
                <a:latin typeface="Arial"/>
                <a:ea typeface="Arial"/>
                <a:cs typeface="Arial"/>
              </a:rPr>
              <a:t>Both would share bookings and payments. You could edit an Important links section in each, such as where to get a fishing license.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7B7557-FBE9-4380-8AA1-6326155E7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52700"/>
            <a:ext cx="5429250" cy="3238500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DDF3FF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E49C4E-972C-4B32-AB40-1A9B916A6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52700"/>
            <a:ext cx="5429250" cy="3238500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F2F4F6"/>
          </a:solidFill>
          <a:ln xmlns:a="http://schemas.openxmlformats.org/drawingml/2006/main" w="9525">
            <a:solidFill>
              <a:srgbClr val="D8DEE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AE08C3-D15E-44EF-BCB1-596F8AE35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BRANDED WEB BOOKING  •  INCLUDED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9D6906-E0E9-4534-90E3-51469954F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4572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Book from any browser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ED8686-8D85-4081-ABAF-086CFC419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4381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5D6670"/>
                </a:solidFill>
                <a:latin typeface="Arial"/>
                <a:ea typeface="Arial"/>
                <a:cs typeface="Arial"/>
              </a:rPr>
              <a:t>Customers tap Book on your website</a:t>
            </a:r>
          </a:p>
          <a:p xmlns:a="http://schemas.openxmlformats.org/drawingml/2006/main">
            <a:pPr algn="l">
              <a:buNone/>
              <a:defRPr sz="150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5D6670"/>
                </a:solidFill>
                <a:latin typeface="Arial"/>
                <a:ea typeface="Arial"/>
                <a:cs typeface="Arial"/>
              </a:rPr>
              <a:t>No app download required</a:t>
            </a:r>
          </a:p>
          <a:p xmlns:a="http://schemas.openxmlformats.org/drawingml/2006/main">
            <a:pPr algn="l">
              <a:buNone/>
              <a:defRPr sz="150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5D6670"/>
                </a:solidFill>
                <a:latin typeface="Arial"/>
                <a:ea typeface="Arial"/>
                <a:cs typeface="Arial"/>
              </a:rPr>
              <a:t>Uses your name, colors, trips, and boats</a:t>
            </a:r>
          </a:p>
          <a:p xmlns:a="http://schemas.openxmlformats.org/drawingml/2006/main">
            <a:pPr algn="l">
              <a:buNone/>
              <a:defRPr sz="150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5D6670"/>
                </a:solidFill>
                <a:latin typeface="Arial"/>
                <a:ea typeface="Arial"/>
                <a:cs typeface="Arial"/>
              </a:rPr>
              <a:t>Book, pay, sign waivers, and manage the trip</a:t>
            </a:r>
          </a:p>
          <a:p xmlns:a="http://schemas.openxmlformats.org/drawingml/2006/main">
            <a:pPr algn="l">
              <a:buNone/>
              <a:defRPr sz="150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5D6670"/>
                </a:solidFill>
                <a:latin typeface="Arial"/>
                <a:ea typeface="Arial"/>
                <a:cs typeface="Arial"/>
              </a:rPr>
              <a:t>Works for every customer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5AD921-2F7A-41C1-B776-BEB94DE28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8003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OPTIONAL CUSTOMER APP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086645-07F7-46BC-9520-78C5170E3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181350"/>
            <a:ext cx="4572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A customer app in the Apple and Google stores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333EAE-3AD7-499D-A552-F97CB5DCF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81450"/>
            <a:ext cx="4381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5D6670"/>
                </a:solidFill>
                <a:latin typeface="Arial"/>
                <a:ea typeface="Arial"/>
                <a:cs typeface="Arial"/>
              </a:rPr>
              <a:t>Your branded customer app, powered by TideGrid</a:t>
            </a:r>
          </a:p>
          <a:p xmlns:a="http://schemas.openxmlformats.org/drawingml/2006/main">
            <a:pPr algn="l">
              <a:buNone/>
              <a:defRPr sz="150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5D6670"/>
                </a:solidFill>
                <a:latin typeface="Arial"/>
                <a:ea typeface="Arial"/>
                <a:cs typeface="Arial"/>
              </a:rPr>
              <a:t>Your name, colors, and app icon</a:t>
            </a:r>
          </a:p>
          <a:p xmlns:a="http://schemas.openxmlformats.org/drawingml/2006/main">
            <a:pPr algn="l">
              <a:buNone/>
              <a:defRPr sz="150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5D6670"/>
                </a:solidFill>
                <a:latin typeface="Arial"/>
                <a:ea typeface="Arial"/>
                <a:cs typeface="Arial"/>
              </a:rPr>
              <a:t>One app for your business, with all your boats</a:t>
            </a:r>
          </a:p>
          <a:p xmlns:a="http://schemas.openxmlformats.org/drawingml/2006/main">
            <a:pPr algn="l">
              <a:buNone/>
              <a:defRPr sz="150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5D6670"/>
                </a:solidFill>
                <a:latin typeface="Arial"/>
                <a:ea typeface="Arial"/>
                <a:cs typeface="Arial"/>
              </a:rPr>
              <a:t>Push alerts, saved details, and upcoming trips</a:t>
            </a:r>
          </a:p>
          <a:p xmlns:a="http://schemas.openxmlformats.org/drawingml/2006/main">
            <a:pPr algn="l">
              <a:buNone/>
              <a:defRPr sz="150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5D6670"/>
                </a:solidFill>
                <a:latin typeface="Arial"/>
                <a:ea typeface="Arial"/>
                <a:cs typeface="Arial"/>
              </a:rPr>
              <a:t>Most useful for repeat customers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31741A-9126-408D-B697-AEDD25D93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5D6670"/>
                </a:solidFill>
                <a:latin typeface="Arial"/>
                <a:ea typeface="Arial"/>
                <a:cs typeface="Arial"/>
              </a:rPr>
              <a:t>CUSTOMER CONCEPT  •  SEPTEMBER 2026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1F917B-CF4A-4A0D-9C15-63FCB246D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0075138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kicker-4">
            <a:extLst xmlns:a="http://schemas.openxmlformats.org/drawingml/2006/main">
              <a:ext uri="{FF2B5EF4-FFF2-40B4-BE49-F238E27FC236}">
                <a16:creationId xmlns:a16="http://schemas.microsoft.com/office/drawing/2014/main" id="{3058C61E-E062-4378-B880-B852E9FFC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FOR YOUR GUESTS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830AF023-96BA-48CC-8503-364D49D7F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0075"/>
            <a:ext cx="11001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Guests could handle the whole booking from their phone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C5C493-7CFA-47DD-8796-13F6F654C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525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FE172B-2A9D-4241-B288-04BC73475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7165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5D6670"/>
                </a:solidFill>
                <a:latin typeface="Arial"/>
                <a:ea typeface="Arial"/>
                <a:cs typeface="Arial"/>
              </a:rPr>
              <a:t>A first-time guest would not need an account. A secure link would bring them back to the same trip.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D7A837-C824-4462-86C9-BDB06B63E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3609975"/>
            <a:ext cx="93154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EAC40A-5132-4801-B501-DE38B87D9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286125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49F3AB-B710-4D96-ACEE-A0132A738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346710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CB8267-0961-4D11-85AD-FE5B34548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19575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Choose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3310D9-2934-4EF6-B7A1-5C51427F6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95825"/>
            <a:ext cx="2667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ctr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See trips and open seats</a:t>
            </a:r>
          </a:p>
          <a:p xmlns:a="http://schemas.openxmlformats.org/drawingml/2006/main">
            <a:pPr algn="ctr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Pick a shared trip or private charter</a:t>
            </a:r>
          </a:p>
          <a:p xmlns:a="http://schemas.openxmlformats.org/drawingml/2006/main">
            <a:pPr algn="ctr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Add extras or rental gear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3395EC-B97B-467F-9FAC-921D976A6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286125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A0A0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94CD9A-AEA2-4EB9-96DB-D43B137B2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346710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A99093-D55A-4B0B-9D6E-C420AEC5E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19575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Pay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A66AA2-C114-432E-BB72-87DEF4EED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695825"/>
            <a:ext cx="2667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ctr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Pay in full by card</a:t>
            </a:r>
          </a:p>
          <a:p xmlns:a="http://schemas.openxmlformats.org/drawingml/2006/main">
            <a:pPr algn="ctr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Or pay a charter deposit and later balance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5948E3-C0D6-417E-AF66-A43E4E83B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286125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A0A0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C69C91-9BF0-46B7-B067-67909A6FD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46710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5BA146-5271-4AF3-AFCC-F0D427AB7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219575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Prepare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8BC97E-1798-4F77-AB9C-4F889475A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695825"/>
            <a:ext cx="2667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ctr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Invite the group</a:t>
            </a:r>
          </a:p>
          <a:p xmlns:a="http://schemas.openxmlformats.org/drawingml/2006/main">
            <a:pPr algn="ctr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Add participant details</a:t>
            </a:r>
          </a:p>
          <a:p xmlns:a="http://schemas.openxmlformats.org/drawingml/2006/main">
            <a:pPr algn="ctr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Sign waivers and read arrival instructions
Open Important links, such as fishing licenses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9E9792-C287-490C-9F50-1FAA5035B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286125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A0A0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2DB0F9-0E59-4C32-B509-5BE4C6558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575" y="346710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E213AF-445B-4598-B99F-7AA814ABB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219575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Manage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89539D-3E51-48BC-B67C-537AD4357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695825"/>
            <a:ext cx="2667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ctr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Pay a balance</a:t>
            </a:r>
          </a:p>
          <a:p xmlns:a="http://schemas.openxmlformats.org/drawingml/2006/main">
            <a:pPr algn="ctr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Cancel or reschedule when allowed</a:t>
            </a:r>
          </a:p>
          <a:p xmlns:a="http://schemas.openxmlformats.org/drawingml/2006/main">
            <a:pPr algn="ctr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Get weather updates and refund status</a:t>
            </a:r>
          </a:p>
          <a:p xmlns:a="http://schemas.openxmlformats.org/drawingml/2006/main">
            <a:pPr algn="ctr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Leave a post-trip tip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F7369B-13E8-451D-9AA8-3FC5270F9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5D6670"/>
                </a:solidFill>
                <a:latin typeface="Arial"/>
                <a:ea typeface="Arial"/>
                <a:cs typeface="Arial"/>
              </a:rPr>
              <a:t>CUSTOMER CONCEPT  •  SEPTEMBER 2026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85AED9-F27B-49F5-BF74-FF61BD406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1449157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kicker-5">
            <a:extLst xmlns:a="http://schemas.openxmlformats.org/drawingml/2006/main">
              <a:ext uri="{FF2B5EF4-FFF2-40B4-BE49-F238E27FC236}">
                <a16:creationId xmlns:a16="http://schemas.microsoft.com/office/drawing/2014/main" id="{98B987A1-8A44-4030-BF1F-8C35C7C9A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FOR YOUR STAFF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BC852185-B49F-4DC2-9879-0953EBAF9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0075"/>
            <a:ext cx="11001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Staff could manage each booking in one place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8E72E4-E652-4D2F-998C-FD3A73B8B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525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24F7AB-46F5-4573-A27C-B89CB2BF5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7165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5D6670"/>
                </a:solidFill>
                <a:latin typeface="Arial"/>
                <a:ea typeface="Arial"/>
                <a:cs typeface="Arial"/>
              </a:rPr>
              <a:t>A calendar and trip list would show what needs attention before the boat leaves.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3CF56C-F314-4D73-BDC9-E0E458E96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43175"/>
            <a:ext cx="3562350" cy="1343025"/>
          </a:xfrm>
          <a:prstGeom xmlns:a="http://schemas.openxmlformats.org/drawingml/2006/main" prst="roundRect">
            <a:avLst>
              <a:gd name="adj" fmla="val 5674"/>
            </a:avLst>
          </a:prstGeom>
          <a:solidFill xmlns:a="http://schemas.openxmlformats.org/drawingml/2006/main">
            <a:srgbClr val="F2F4F6"/>
          </a:solidFill>
          <a:ln xmlns:a="http://schemas.openxmlformats.org/drawingml/2006/main" w="9525">
            <a:solidFill>
              <a:srgbClr val="D8DEE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23F027-D038-4775-A3C6-76EFA006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14625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CALENDAR + CAPACITY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621AB0-63EB-4B3B-90F8-B214AEAA0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3143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0A0A0A"/>
                </a:solidFill>
                <a:latin typeface="Arial"/>
                <a:ea typeface="Arial"/>
                <a:cs typeface="Arial"/>
              </a:rPr>
              <a:t>Trips, boats, open seats, cutoffs, blackouts, and booking holds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8056A5-5653-40B6-A7DB-E98455EAD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543175"/>
            <a:ext cx="3562350" cy="1343025"/>
          </a:xfrm>
          <a:prstGeom xmlns:a="http://schemas.openxmlformats.org/drawingml/2006/main" prst="roundRect">
            <a:avLst>
              <a:gd name="adj" fmla="val 5674"/>
            </a:avLst>
          </a:prstGeom>
          <a:solidFill xmlns:a="http://schemas.openxmlformats.org/drawingml/2006/main">
            <a:srgbClr val="F2F4F6"/>
          </a:solidFill>
          <a:ln xmlns:a="http://schemas.openxmlformats.org/drawingml/2006/main" w="9525">
            <a:solidFill>
              <a:srgbClr val="D8DEE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BFDE4C-A642-49A7-93A0-C98887EC1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714625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BOOKING RECORD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0BF69F-1F78-4856-B332-EDEA26EEE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038475"/>
            <a:ext cx="3143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0A0A0A"/>
                </a:solidFill>
                <a:latin typeface="Arial"/>
                <a:ea typeface="Arial"/>
                <a:cs typeface="Arial"/>
              </a:rPr>
              <a:t>Customer details, participants, notes, history, and phone or walk-up bookings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927198-069E-4997-A0AA-FB5D623C7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43175"/>
            <a:ext cx="3562350" cy="1343025"/>
          </a:xfrm>
          <a:prstGeom xmlns:a="http://schemas.openxmlformats.org/drawingml/2006/main" prst="roundRect">
            <a:avLst>
              <a:gd name="adj" fmla="val 5674"/>
            </a:avLst>
          </a:prstGeom>
          <a:solidFill xmlns:a="http://schemas.openxmlformats.org/drawingml/2006/main">
            <a:srgbClr val="F2F4F6"/>
          </a:solidFill>
          <a:ln xmlns:a="http://schemas.openxmlformats.org/drawingml/2006/main" w="9525">
            <a:solidFill>
              <a:srgbClr val="D8DEE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D11AAF-55D8-4C4E-99F5-D118E3D3E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714625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PAYMENTS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96D1E6-5541-49DA-955F-B10E6A511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38475"/>
            <a:ext cx="3143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0A0A0A"/>
                </a:solidFill>
                <a:latin typeface="Arial"/>
                <a:ea typeface="Arial"/>
                <a:cs typeface="Arial"/>
              </a:rPr>
              <a:t>Paid, deposit, balance due, refund, credit, or outside payment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8E50D0-3008-43C9-945C-E7C7876B4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33850"/>
            <a:ext cx="3562350" cy="1343025"/>
          </a:xfrm>
          <a:prstGeom xmlns:a="http://schemas.openxmlformats.org/drawingml/2006/main" prst="roundRect">
            <a:avLst>
              <a:gd name="adj" fmla="val 5674"/>
            </a:avLst>
          </a:prstGeom>
          <a:solidFill xmlns:a="http://schemas.openxmlformats.org/drawingml/2006/main">
            <a:srgbClr val="DDF3FF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26A4AE-CEAA-4D41-808C-A757333D0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053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WAIVERS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C9A50A-0ED6-4040-BC53-6054099A9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29150"/>
            <a:ext cx="3143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0A0A0A"/>
                </a:solidFill>
                <a:latin typeface="Arial"/>
                <a:ea typeface="Arial"/>
                <a:cs typeface="Arial"/>
              </a:rPr>
              <a:t>Signed or missing, correct form, guardian signature, and signed copy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7A099E-B238-45A8-9AA8-F487A95D8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4133850"/>
            <a:ext cx="3562350" cy="1343025"/>
          </a:xfrm>
          <a:prstGeom xmlns:a="http://schemas.openxmlformats.org/drawingml/2006/main" prst="roundRect">
            <a:avLst>
              <a:gd name="adj" fmla="val 5674"/>
            </a:avLst>
          </a:prstGeom>
          <a:solidFill xmlns:a="http://schemas.openxmlformats.org/drawingml/2006/main">
            <a:srgbClr val="F2F4F6"/>
          </a:solidFill>
          <a:ln xmlns:a="http://schemas.openxmlformats.org/drawingml/2006/main" w="9525">
            <a:solidFill>
              <a:srgbClr val="D8DEE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74FC92-7C16-43A4-BB3C-4414E5030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3053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RENTAL GEAR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63502C-77B3-4112-AE79-064CED8AD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629150"/>
            <a:ext cx="3143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0A0A0A"/>
                </a:solidFill>
                <a:latin typeface="Arial"/>
                <a:ea typeface="Arial"/>
                <a:cs typeface="Arial"/>
              </a:rPr>
              <a:t>What is reserved, size and quantity, price, and blocked-out inventory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E30359-01DF-42A3-91DC-3EB72E911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33850"/>
            <a:ext cx="3562350" cy="1343025"/>
          </a:xfrm>
          <a:prstGeom xmlns:a="http://schemas.openxmlformats.org/drawingml/2006/main" prst="roundRect">
            <a:avLst>
              <a:gd name="adj" fmla="val 5674"/>
            </a:avLst>
          </a:prstGeom>
          <a:solidFill xmlns:a="http://schemas.openxmlformats.org/drawingml/2006/main">
            <a:srgbClr val="F2F4F6"/>
          </a:solidFill>
          <a:ln xmlns:a="http://schemas.openxmlformats.org/drawingml/2006/main" w="9525">
            <a:solidFill>
              <a:srgbClr val="D8DEE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F34CC6-A318-4B1E-A3C9-106C55159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3053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MESSAGES + REPORTS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C6EFB1-F266-4EA8-BCFE-6CC9A2883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629150"/>
            <a:ext cx="3143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0A0A0A"/>
                </a:solidFill>
                <a:latin typeface="Arial"/>
                <a:ea typeface="Arial"/>
                <a:cs typeface="Arial"/>
              </a:rPr>
              <a:t>Email and text status, trip roster, revenue, tax, tips, and refunds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60A3A4-F663-4BAC-A5C1-03BE0DEF9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657850"/>
            <a:ext cx="49911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A0A0A"/>
          </a:solidFill>
          <a:ln xmlns:a="http://schemas.openxmlformats.org/drawingml/2006/main" w="9525">
            <a:solidFill>
              <a:srgbClr val="0A0A0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D3CC77-256B-4FF2-ABB5-EA7988D72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781675"/>
            <a:ext cx="445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PAYMENT  •  WAIVER  •  GEAR  •  GUESTS, ALL IN ONE LIST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39FF4B-9AC7-4E7F-AF79-5DCE5E4B3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5D6670"/>
                </a:solidFill>
                <a:latin typeface="Arial"/>
                <a:ea typeface="Arial"/>
                <a:cs typeface="Arial"/>
              </a:rPr>
              <a:t>CUSTOMER CONCEPT  •  SEPTEMBER 2026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FE2947B-6C4D-4F09-A085-7559BD986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4398287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kicker-4">
            <a:extLst xmlns:a="http://schemas.openxmlformats.org/drawingml/2006/main">
              <a:ext uri="{FF2B5EF4-FFF2-40B4-BE49-F238E27FC236}">
                <a16:creationId xmlns:a16="http://schemas.microsoft.com/office/drawing/2014/main" id="{3058C61E-E062-4378-B880-B852E9FFC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WHEN PLANS CHANGE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830AF023-96BA-48CC-8503-364D49D7F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0075"/>
            <a:ext cx="11001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One trip change could update every related record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C5C493-7CFA-47DD-8796-13F6F654C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525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FE172B-2A9D-4241-B288-04BC73475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7165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5D6670"/>
                </a:solidFill>
                <a:latin typeface="Arial"/>
                <a:ea typeface="Arial"/>
                <a:cs typeface="Arial"/>
              </a:rPr>
              <a:t>Example: staff reviews the weather and cancels a trip. The software never makes that decision.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D7A837-C824-4462-86C9-BDB06B63E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3609975"/>
            <a:ext cx="93154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EAC40A-5132-4801-B501-DE38B87D9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286125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49F3AB-B710-4D96-ACEE-A0132A738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346710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CB8267-0961-4D11-85AD-FE5B34548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19575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Decide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3310D9-2934-4EF6-B7A1-5C51427F6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95825"/>
            <a:ext cx="2667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ctr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Staff reviews the forecast and decides whether the trip will run.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3395EC-B97B-467F-9FAC-921D976A6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286125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A0A0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94CD9A-AEA2-4EB9-96DB-D43B137B2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346710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A99093-D55A-4B0B-9D6E-C420AEC5E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19575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Choose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A66AA2-C114-432E-BB72-87DEF4EED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695825"/>
            <a:ext cx="2667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ctr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For each booking, staff chooses a refund or service credit.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5948E3-C0D6-417E-AF66-A43E4E83B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286125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A0A0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C69C91-9BF0-46B7-B067-67909A6FD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46710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5BA146-5271-4AF3-AFCC-F0D427AB7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219575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Update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8BC97E-1798-4F77-AB9C-4F889475A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695825"/>
            <a:ext cx="2667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ctr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TideGrid releases seats and gear and records the refund or credit.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9E9792-C287-490C-9F50-1FAA5035B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286125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A0A0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2DB0F9-0E59-4C32-B509-5BE4C6558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575" y="346710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E213AF-445B-4598-B99F-7AA814ABB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219575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Notify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89539D-3E51-48BC-B67C-537AD4357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695825"/>
            <a:ext cx="2667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ctr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Guests receive email or text with the decision and their result.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F7369B-13E8-451D-9AA8-3FC5270F9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5D6670"/>
                </a:solidFill>
                <a:latin typeface="Arial"/>
                <a:ea typeface="Arial"/>
                <a:cs typeface="Arial"/>
              </a:rPr>
              <a:t>CUSTOMER CONCEPT  •  SEPTEMBER 2026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85AED9-F27B-49F5-BF74-FF61BD406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31449157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kicker-6">
            <a:extLst xmlns:a="http://schemas.openxmlformats.org/drawingml/2006/main">
              <a:ext uri="{FF2B5EF4-FFF2-40B4-BE49-F238E27FC236}">
                <a16:creationId xmlns:a16="http://schemas.microsoft.com/office/drawing/2014/main" id="{4948088A-7A6F-4290-8AD4-263672F85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YOU STAY IN CONTROL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6AFEC05C-B565-45B7-A462-09BDDD1D6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0075"/>
            <a:ext cx="11001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You keep the money and the business decisions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05A95B-FCF3-4335-B9F8-77ADFCD8C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525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CAEAF9-3862-44D1-975F-90B91F28B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71650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5D6670"/>
                </a:solidFill>
                <a:latin typeface="Arial"/>
                <a:ea typeface="Arial"/>
                <a:cs typeface="Arial"/>
              </a:rPr>
              <a:t>TideGrid would provide booking software. It would not run your operation.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C3241C-0737-427C-8AFB-3E07EE80E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43175"/>
            <a:ext cx="5438775" cy="3343275"/>
          </a:xfrm>
          <a:prstGeom xmlns:a="http://schemas.openxmlformats.org/drawingml/2006/main" prst="roundRect">
            <a:avLst>
              <a:gd name="adj" fmla="val 2279"/>
            </a:avLst>
          </a:prstGeom>
          <a:solidFill xmlns:a="http://schemas.openxmlformats.org/drawingml/2006/main">
            <a:srgbClr val="0A0A0A"/>
          </a:solidFill>
          <a:ln xmlns:a="http://schemas.openxmlformats.org/drawingml/2006/main" w="9525">
            <a:solidFill>
              <a:srgbClr val="0A0A0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FF4C23-579F-440C-B6D7-AC450569D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543175"/>
            <a:ext cx="5438775" cy="3343275"/>
          </a:xfrm>
          <a:prstGeom xmlns:a="http://schemas.openxmlformats.org/drawingml/2006/main" prst="roundRect">
            <a:avLst>
              <a:gd name="adj" fmla="val 2279"/>
            </a:avLst>
          </a:prstGeom>
          <a:solidFill xmlns:a="http://schemas.openxmlformats.org/drawingml/2006/main">
            <a:srgbClr val="F2F4F6"/>
          </a:solidFill>
          <a:ln xmlns:a="http://schemas.openxmlformats.org/drawingml/2006/main" w="9525">
            <a:solidFill>
              <a:srgbClr val="D8DEE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76BD0C-903F-4C67-BFEA-F58E3C9D5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90825"/>
            <a:ext cx="2667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YOU CONTROL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AB35C6-9255-45EA-930B-4075A0375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4572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Your rules, customer payments, and trip decisions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BCCA4E-7456-4246-A1EA-E0B1E58BA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45910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FFFFFF"/>
                </a:solidFill>
                <a:latin typeface="Arial"/>
                <a:ea typeface="Arial"/>
                <a:cs typeface="Arial"/>
              </a:rPr>
              <a:t>Set your prices and booking rules</a:t>
            </a:r>
          </a:p>
          <a:p xmlns:a="http://schemas.openxmlformats.org/drawingml/2006/main">
            <a:pPr algn="l">
              <a:buNone/>
              <a:defRPr sz="13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FFFFFF"/>
                </a:solidFill>
                <a:latin typeface="Arial"/>
                <a:ea typeface="Arial"/>
                <a:cs typeface="Arial"/>
              </a:rPr>
              <a:t>Approve your waiver wording</a:t>
            </a:r>
          </a:p>
          <a:p xmlns:a="http://schemas.openxmlformats.org/drawingml/2006/main">
            <a:pPr algn="l">
              <a:buNone/>
              <a:defRPr sz="13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FFFFFF"/>
                </a:solidFill>
                <a:latin typeface="Arial"/>
                <a:ea typeface="Arial"/>
                <a:cs typeface="Arial"/>
              </a:rPr>
              <a:t>Decide whether each trip runs</a:t>
            </a:r>
          </a:p>
          <a:p xmlns:a="http://schemas.openxmlformats.org/drawingml/2006/main">
            <a:pPr algn="l">
              <a:buNone/>
              <a:defRPr sz="13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FFFFFF"/>
                </a:solidFill>
                <a:latin typeface="Arial"/>
                <a:ea typeface="Arial"/>
                <a:cs typeface="Arial"/>
              </a:rPr>
              <a:t>Choose refunds or service credits</a:t>
            </a:r>
          </a:p>
          <a:p xmlns:a="http://schemas.openxmlformats.org/drawingml/2006/main">
            <a:pPr algn="l">
              <a:buNone/>
              <a:defRPr sz="13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FFFFFF"/>
                </a:solidFill>
                <a:latin typeface="Arial"/>
                <a:ea typeface="Arial"/>
                <a:cs typeface="Arial"/>
              </a:rPr>
              <a:t>Customer card payments go to your Stripe account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06997C-E7DD-4DE5-9F36-A13AA6F58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2790825"/>
            <a:ext cx="3143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 spc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 spc="1">
                <a:solidFill>
                  <a:srgbClr val="3D8DFF"/>
                </a:solidFill>
                <a:latin typeface="Arial"/>
                <a:ea typeface="Arial"/>
                <a:cs typeface="Arial"/>
              </a:rPr>
              <a:t>NOT IN THE FIRST VERSION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04CAA3-DF8D-4558-B398-C176580F0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3181350"/>
            <a:ext cx="457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TideGrid is not trying to run the boat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86C4BB-BA07-4A00-9D98-A9AA3B14C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3905250"/>
            <a:ext cx="4619625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5D6670"/>
                </a:solidFill>
                <a:latin typeface="Arial"/>
                <a:ea typeface="Arial"/>
                <a:cs typeface="Arial"/>
              </a:rPr>
              <a:t>No live connection to Viator, GetYourGuide, or Expedia</a:t>
            </a:r>
          </a:p>
          <a:p xmlns:a="http://schemas.openxmlformats.org/drawingml/2006/main">
            <a:pPr algn="l">
              <a:buNone/>
              <a:defRPr sz="13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5D6670"/>
                </a:solidFill>
                <a:latin typeface="Arial"/>
                <a:ea typeface="Arial"/>
                <a:cs typeface="Arial"/>
              </a:rPr>
              <a:t>No marketing campaigns or WhatsApp</a:t>
            </a:r>
          </a:p>
          <a:p xmlns:a="http://schemas.openxmlformats.org/drawingml/2006/main">
            <a:pPr algn="l">
              <a:buNone/>
              <a:defRPr sz="13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5D6670"/>
                </a:solidFill>
                <a:latin typeface="Arial"/>
                <a:ea typeface="Arial"/>
                <a:cs typeface="Arial"/>
              </a:rPr>
              <a:t>No crew, payroll, manifest, or maintenance tools</a:t>
            </a:r>
          </a:p>
          <a:p xmlns:a="http://schemas.openxmlformats.org/drawingml/2006/main">
            <a:pPr algn="l">
              <a:buNone/>
              <a:defRPr sz="13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5D6670"/>
                </a:solidFill>
                <a:latin typeface="Arial"/>
                <a:ea typeface="Arial"/>
                <a:cs typeface="Arial"/>
              </a:rPr>
              <a:t>No automatic weather decisions</a:t>
            </a:r>
          </a:p>
          <a:p xmlns:a="http://schemas.openxmlformats.org/drawingml/2006/main">
            <a:pPr algn="l">
              <a:buNone/>
              <a:defRPr sz="1350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5D6670"/>
                </a:solidFill>
                <a:latin typeface="Arial"/>
                <a:ea typeface="Arial"/>
                <a:cs typeface="Arial"/>
              </a:rPr>
              <a:t>No points, gift cards, or per-item gear tracking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300DAA-F82A-4E7D-9806-153991339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5D6670"/>
                </a:solidFill>
                <a:latin typeface="Arial"/>
                <a:ea typeface="Arial"/>
                <a:cs typeface="Arial"/>
              </a:rPr>
              <a:t>CUSTOMER CONCEPT  •  SEPTEMBER 2026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A9BF2F-1876-4558-B5BA-7210D66B0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07533606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kicker-7">
            <a:extLst xmlns:a="http://schemas.openxmlformats.org/drawingml/2006/main">
              <a:ext uri="{FF2B5EF4-FFF2-40B4-BE49-F238E27FC236}">
                <a16:creationId xmlns:a16="http://schemas.microsoft.com/office/drawing/2014/main" id="{4871C162-07D0-444D-85F0-B19393BB3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PRICING TO TEST  •  NOT AN OFFER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649C084E-5B22-47BC-814D-46251C81B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0075"/>
            <a:ext cx="11001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Software, setup help, and the app are separate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0EE01B-29C1-450E-9084-C5CEDCE13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525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F6D89A-B28B-4015-B192-5BBF855B9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43100"/>
            <a:ext cx="3562350" cy="3619500"/>
          </a:xfrm>
          <a:prstGeom xmlns:a="http://schemas.openxmlformats.org/drawingml/2006/main" prst="roundRect">
            <a:avLst>
              <a:gd name="adj" fmla="val 2139"/>
            </a:avLst>
          </a:prstGeom>
          <a:solidFill xmlns:a="http://schemas.openxmlformats.org/drawingml/2006/main">
            <a:srgbClr val="F2F4F6"/>
          </a:solidFill>
          <a:ln xmlns:a="http://schemas.openxmlformats.org/drawingml/2006/main" w="9525">
            <a:solidFill>
              <a:srgbClr val="D8DEE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13AE7E-BD54-4E4E-B756-EF9A7A3C7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33600"/>
            <a:ext cx="3105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BOOKING 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144E9F-F8A6-46DC-B643-F5120344D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31051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$149 / month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1292F0-0410-4E4D-AA1B-5EDBB9080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62300"/>
            <a:ext cx="31051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+ 1.5% of completed booking sales*</a:t>
            </a:r>
          </a:p>
          <a:p xmlns:a="http://schemas.openxmlformats.org/drawingml/2006/main">
            <a:pPr algn="l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 </a:t>
            </a:r>
          </a:p>
          <a:p xmlns:a="http://schemas.openxmlformats.org/drawingml/2006/main">
            <a:pPr algn="l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$0 setup if you configure it yourself</a:t>
            </a:r>
          </a:p>
          <a:p xmlns:a="http://schemas.openxmlformats.org/drawingml/2006/main">
            <a:pPr algn="l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Two active boats included</a:t>
            </a:r>
          </a:p>
          <a:p xmlns:a="http://schemas.openxmlformats.org/drawingml/2006/main">
            <a:pPr algn="l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12-month commitment</a:t>
            </a:r>
          </a:p>
          <a:p xmlns:a="http://schemas.openxmlformats.org/drawingml/2006/main">
            <a:pPr algn="l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Minimum Booking System fees: $3,000/year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BB3E6C-58BE-4CDB-9987-90808F6B8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943100"/>
            <a:ext cx="3562350" cy="3619500"/>
          </a:xfrm>
          <a:prstGeom xmlns:a="http://schemas.openxmlformats.org/drawingml/2006/main" prst="roundRect">
            <a:avLst>
              <a:gd name="adj" fmla="val 2139"/>
            </a:avLst>
          </a:prstGeom>
          <a:solidFill xmlns:a="http://schemas.openxmlformats.org/drawingml/2006/main">
            <a:srgbClr val="F2F4F6"/>
          </a:solidFill>
          <a:ln xmlns:a="http://schemas.openxmlformats.org/drawingml/2006/main" w="9525">
            <a:solidFill>
              <a:srgbClr val="D8DEE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F2DC97-5BCB-4D11-B341-EC67BE110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133600"/>
            <a:ext cx="3105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OPTIONAL SETUP HELP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D14371-3C46-490A-9F5E-80D10AFC8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457450"/>
            <a:ext cx="31051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$1,000 once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0EB0DB-D92A-458B-92DB-391F217E8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162300"/>
            <a:ext cx="31051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We load your trips and booking rules</a:t>
            </a:r>
          </a:p>
          <a:p xmlns:a="http://schemas.openxmlformats.org/drawingml/2006/main">
            <a:pPr algn="l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Import a standard spreadsheet</a:t>
            </a:r>
          </a:p>
          <a:p xmlns:a="http://schemas.openxmlformats.org/drawingml/2006/main">
            <a:pPr algn="l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Set up your waiver</a:t>
            </a:r>
          </a:p>
          <a:p xmlns:a="http://schemas.openxmlformats.org/drawingml/2006/main">
            <a:pPr algn="l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Train staff and help you launch</a:t>
            </a:r>
          </a:p>
          <a:p xmlns:a="http://schemas.openxmlformats.org/drawingml/2006/main">
            <a:pPr algn="l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$0 if you do it yourself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4B2BF2-4A21-40E0-951D-194D92453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43100"/>
            <a:ext cx="3562350" cy="3619500"/>
          </a:xfrm>
          <a:prstGeom xmlns:a="http://schemas.openxmlformats.org/drawingml/2006/main" prst="roundRect">
            <a:avLst>
              <a:gd name="adj" fmla="val 2139"/>
            </a:avLst>
          </a:prstGeom>
          <a:solidFill xmlns:a="http://schemas.openxmlformats.org/drawingml/2006/main">
            <a:srgbClr val="DDF3FF"/>
          </a:solidFill>
          <a:ln xmlns:a="http://schemas.openxmlformats.org/drawingml/2006/main" w="9525">
            <a:solidFill>
              <a:srgbClr val="D8DEE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497014-CD6E-406B-B48F-887ABC129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133600"/>
            <a:ext cx="3105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OPTIONAL CUSTOMER APP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4388EE-9DCE-4D8F-9916-934829F1A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457450"/>
            <a:ext cx="31051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$4,500 app setup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3EA4B2-EBFE-4D12-9F20-0D41C2FB0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162300"/>
            <a:ext cx="31051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Total with Booking System:</a:t>
            </a:r>
          </a:p>
          <a:p xmlns:a="http://schemas.openxmlformats.org/drawingml/2006/main">
            <a:pPr algn="l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$548/month + 1.75%*</a:t>
            </a:r>
          </a:p>
          <a:p xmlns:a="http://schemas.openxmlformats.org/drawingml/2006/main">
            <a:pPr algn="l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Your branded iPhone and Android app</a:t>
            </a:r>
          </a:p>
          <a:p xmlns:a="http://schemas.openxmlformats.org/drawingml/2006/main">
            <a:pPr algn="l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All boats in one business app</a:t>
            </a:r>
          </a:p>
          <a:p xmlns:a="http://schemas.openxmlformats.org/drawingml/2006/main">
            <a:pPr algn="l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12-month commitment</a:t>
            </a:r>
          </a:p>
          <a:p xmlns:a="http://schemas.openxmlformats.org/drawingml/2006/main">
            <a:pPr algn="l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Possible future pilot: $2,250 app setup</a:t>
            </a:r>
          </a:p>
          <a:p xmlns:a="http://schemas.openxmlformats.org/drawingml/2006/main">
            <a:pPr algn="l">
              <a:buNone/>
              <a:defRPr sz="1275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0"/>
                </a:solidFill>
                <a:latin typeface="Arial"/>
                <a:ea typeface="Arial"/>
                <a:cs typeface="Arial"/>
              </a:rPr>
              <a:t>Not currently available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B45217-919E-4789-AF48-4B65D8EF5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76900"/>
            <a:ext cx="11391900" cy="523875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0A0A0A"/>
          </a:solidFill>
          <a:ln xmlns:a="http://schemas.openxmlformats.org/drawingml/2006/main" w="9525">
            <a:solidFill>
              <a:srgbClr val="0A0A0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46E770-F30E-4F6F-AD40-DB8DAE12D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829300"/>
            <a:ext cx="109918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ctr">
              <a:buNone/>
              <a:defRPr sz="11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FFFFFF"/>
                </a:solidFill>
                <a:latin typeface="Arial"/>
                <a:ea typeface="Arial"/>
                <a:cs typeface="Arial"/>
              </a:rPr>
              <a:t>*Completed booking sales managed in TideGrid; taxes, tips, and refunds excluded. Stripe, texting, domain, and app-store costs pass through at cost.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0411F1-7F35-47E3-9108-55EA558D0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5D6670"/>
                </a:solidFill>
                <a:latin typeface="Arial"/>
                <a:ea typeface="Arial"/>
                <a:cs typeface="Arial"/>
              </a:rPr>
              <a:t>CUSTOMER CONCEPT  •  SEPTEMBER 2026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B22E37-595B-481B-BD6A-934044F0C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32955814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kicker-8">
            <a:extLst xmlns:a="http://schemas.openxmlformats.org/drawingml/2006/main">
              <a:ext uri="{FF2B5EF4-FFF2-40B4-BE49-F238E27FC236}">
                <a16:creationId xmlns:a16="http://schemas.microsoft.com/office/drawing/2014/main" id="{3D0FC360-C872-4CE8-9F77-65B79FDD3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 spc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 spc="1">
                <a:solidFill>
                  <a:srgbClr val="3D8DFF"/>
                </a:solidFill>
                <a:latin typeface="Arial"/>
                <a:ea typeface="Arial"/>
                <a:cs typeface="Arial"/>
              </a:rPr>
              <a:t>THE NEXT CONVERSATION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28616590-6267-480C-85F5-99AA3B7F1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0075"/>
            <a:ext cx="11001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Help us find what is useful, missing, or unrealistic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32B041-C3B1-48D9-9FBD-18B5F7895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525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D9E116-8E29-4B25-8C3E-7FD32F5D9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4953000" cy="3543300"/>
          </a:xfrm>
          <a:prstGeom xmlns:a="http://schemas.openxmlformats.org/drawingml/2006/main" prst="roundRect">
            <a:avLst>
              <a:gd name="adj" fmla="val 2151"/>
            </a:avLst>
          </a:prstGeom>
          <a:solidFill xmlns:a="http://schemas.openxmlformats.org/drawingml/2006/main">
            <a:srgbClr val="DDF3FF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9310EC-C39A-46FB-BF4B-E8D880F3A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000250"/>
            <a:ext cx="6038850" cy="3543300"/>
          </a:xfrm>
          <a:prstGeom xmlns:a="http://schemas.openxmlformats.org/drawingml/2006/main" prst="roundRect">
            <a:avLst>
              <a:gd name="adj" fmla="val 2151"/>
            </a:avLst>
          </a:prstGeom>
          <a:solidFill xmlns:a="http://schemas.openxmlformats.org/drawingml/2006/main">
            <a:srgbClr val="F2F4F6"/>
          </a:solidFill>
          <a:ln xmlns:a="http://schemas.openxmlformats.org/drawingml/2006/main" w="9525">
            <a:solidFill>
              <a:srgbClr val="D8DEE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E35221-3B5C-4379-9B35-D46351595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THIS MAY FIT IF YOU HAVE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C15B05-39C3-48AE-A2D3-DCC432D7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241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F18095-4FA3-48E7-97BB-388591711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33DEF5-377E-40F0-A0D4-F21E26CCF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752725"/>
            <a:ext cx="3667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1–5 boats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19ECBA-69F8-4916-8A54-473FF339C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242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2914D8-4093-4AB8-B8BA-4A3CABD1A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81375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F4415D-DE28-4FF6-8CB2-FEDAF091D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3352800"/>
            <a:ext cx="3667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Most bookings come directly to you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908026-9111-4E21-B597-2C4C86FC8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43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45DE27-8C37-44D2-95AA-47C917814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8145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B667FE-5A83-4593-87D9-7D2BB8811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3952875"/>
            <a:ext cx="3667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Customers who book again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B7B9C7-EC73-4E10-8FA4-F0020689D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243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627E9D-B392-48BD-A9C6-0534551F9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81525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309517-5CDB-4819-BFC0-2D69498D5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552950"/>
            <a:ext cx="3667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Staff switching between several tools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83C53C-DF97-4E6C-B4D5-F4F13584C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2669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IN A 45-MINUTE REVIEW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C01F0D-DC02-4E52-9FBF-DD7F8FEEB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7432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29774A-C4DD-4989-84E8-55B05B7DC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714625"/>
            <a:ext cx="4619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Walk through one real booking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258959-B76C-40FE-A2EB-591F08D3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1813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376FFE-1F5E-4958-96B8-4494D515E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3528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5EE47E-8535-4AD5-BE6B-CCC4A5EAD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324225"/>
            <a:ext cx="4619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Show what happens when plans change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080540-E451-46C4-8AD7-00AB878A7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7909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3F594F-9F07-4E13-B979-19D2A85E7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9624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043639F-FAAC-4321-8C63-19D32F726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933825"/>
            <a:ext cx="4619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Review your current tools and costs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75F366-0838-4A2C-AE56-7F489C3D5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4005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330455A-41E9-4FE4-8CB3-3833AB742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5720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F81E7F8-DF0D-4D2C-AAA3-A5761EBA7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543425"/>
            <a:ext cx="4619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Challenge the web, app, features, and price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D4BADF-3250-4F20-A59E-6FA3B4791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34050"/>
            <a:ext cx="11391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No purchase decision is required. TideGrid is not accepting deposits.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To participate, reply to the person who shared this deck.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9CA8B18-4124-48FA-8925-D0006132B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19850"/>
            <a:ext cx="447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67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5D6670"/>
                </a:solidFill>
                <a:latin typeface="Arial"/>
                <a:ea typeface="Arial"/>
                <a:cs typeface="Arial"/>
              </a:rPr>
              <a:t>CUSTOMER CONCEPT  •  SEPTEMBER 2026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7B6F4CE-0466-4FE3-A8FF-31B010478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0A0A0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A0A0A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3036835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2026-09-05T10:52:37.8360000Z</dcterms:created>
  <dcterms:modified xsi:type="dcterms:W3CDTF">2026-09-05T10:52:37.8360000Z</dcterms:modified>
</coreProperties>
</file>